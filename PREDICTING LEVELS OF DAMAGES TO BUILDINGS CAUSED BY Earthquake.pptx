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72" r:id="rId14"/>
    <p:sldId id="273" r:id="rId15"/>
    <p:sldId id="274" r:id="rId16"/>
    <p:sldId id="269" r:id="rId17"/>
    <p:sldId id="270" r:id="rId18"/>
    <p:sldId id="271" r:id="rId19"/>
    <p:sldId id="275" r:id="rId20"/>
    <p:sldId id="278" r:id="rId21"/>
    <p:sldId id="280" r:id="rId22"/>
    <p:sldId id="281" r:id="rId23"/>
    <p:sldId id="282" r:id="rId24"/>
    <p:sldId id="283" r:id="rId25"/>
    <p:sldId id="284" r:id="rId26"/>
    <p:sldId id="287" r:id="rId27"/>
    <p:sldId id="285" r:id="rId28"/>
    <p:sldId id="288" r:id="rId29"/>
    <p:sldId id="286" r:id="rId30"/>
    <p:sldId id="289" r:id="rId31"/>
    <p:sldId id="290" r:id="rId32"/>
    <p:sldId id="291" r:id="rId33"/>
    <p:sldId id="29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6C4C6-0385-4466-8E85-1E8BE9A3AB2E}" v="1" dt="2025-05-07T17:54:02.3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wtham R" userId="8706b9fbec5362dd" providerId="LiveId" clId="{4096C4C6-0385-4466-8E85-1E8BE9A3AB2E}"/>
    <pc:docChg chg="undo custSel delSld modSld">
      <pc:chgData name="Gowtham R" userId="8706b9fbec5362dd" providerId="LiveId" clId="{4096C4C6-0385-4466-8E85-1E8BE9A3AB2E}" dt="2025-05-08T09:24:07.703" v="145" actId="2696"/>
      <pc:docMkLst>
        <pc:docMk/>
      </pc:docMkLst>
      <pc:sldChg chg="modSp mod">
        <pc:chgData name="Gowtham R" userId="8706b9fbec5362dd" providerId="LiveId" clId="{4096C4C6-0385-4466-8E85-1E8BE9A3AB2E}" dt="2025-05-08T07:58:57.392" v="21" actId="113"/>
        <pc:sldMkLst>
          <pc:docMk/>
          <pc:sldMk cId="1835559535" sldId="256"/>
        </pc:sldMkLst>
        <pc:spChg chg="mod">
          <ac:chgData name="Gowtham R" userId="8706b9fbec5362dd" providerId="LiveId" clId="{4096C4C6-0385-4466-8E85-1E8BE9A3AB2E}" dt="2025-05-08T07:58:57.392" v="21" actId="113"/>
          <ac:spMkLst>
            <pc:docMk/>
            <pc:sldMk cId="1835559535" sldId="256"/>
            <ac:spMk id="3" creationId="{E4313224-36C5-C17C-33F6-8373E9A7400E}"/>
          </ac:spMkLst>
        </pc:spChg>
      </pc:sldChg>
      <pc:sldChg chg="modSp mod">
        <pc:chgData name="Gowtham R" userId="8706b9fbec5362dd" providerId="LiveId" clId="{4096C4C6-0385-4466-8E85-1E8BE9A3AB2E}" dt="2025-05-08T08:02:10.821" v="130" actId="20577"/>
        <pc:sldMkLst>
          <pc:docMk/>
          <pc:sldMk cId="2877688002" sldId="257"/>
        </pc:sldMkLst>
        <pc:spChg chg="mod">
          <ac:chgData name="Gowtham R" userId="8706b9fbec5362dd" providerId="LiveId" clId="{4096C4C6-0385-4466-8E85-1E8BE9A3AB2E}" dt="2025-05-08T08:02:10.821" v="130" actId="20577"/>
          <ac:spMkLst>
            <pc:docMk/>
            <pc:sldMk cId="2877688002" sldId="257"/>
            <ac:spMk id="2" creationId="{228A53E8-F4DE-CB59-A3A2-F488F8AC1AE0}"/>
          </ac:spMkLst>
        </pc:spChg>
      </pc:sldChg>
      <pc:sldChg chg="modSp mod">
        <pc:chgData name="Gowtham R" userId="8706b9fbec5362dd" providerId="LiveId" clId="{4096C4C6-0385-4466-8E85-1E8BE9A3AB2E}" dt="2025-05-08T08:01:55.944" v="119" actId="20577"/>
        <pc:sldMkLst>
          <pc:docMk/>
          <pc:sldMk cId="709205284" sldId="258"/>
        </pc:sldMkLst>
        <pc:spChg chg="mod">
          <ac:chgData name="Gowtham R" userId="8706b9fbec5362dd" providerId="LiveId" clId="{4096C4C6-0385-4466-8E85-1E8BE9A3AB2E}" dt="2025-05-08T08:01:55.944" v="119" actId="20577"/>
          <ac:spMkLst>
            <pc:docMk/>
            <pc:sldMk cId="709205284" sldId="258"/>
            <ac:spMk id="2" creationId="{BAA7EA6C-64FA-532B-3FB2-290C1B9BD22A}"/>
          </ac:spMkLst>
        </pc:spChg>
      </pc:sldChg>
      <pc:sldChg chg="modSp mod">
        <pc:chgData name="Gowtham R" userId="8706b9fbec5362dd" providerId="LiveId" clId="{4096C4C6-0385-4466-8E85-1E8BE9A3AB2E}" dt="2025-05-08T08:01:40.310" v="108" actId="20577"/>
        <pc:sldMkLst>
          <pc:docMk/>
          <pc:sldMk cId="3618355863" sldId="259"/>
        </pc:sldMkLst>
        <pc:spChg chg="mod">
          <ac:chgData name="Gowtham R" userId="8706b9fbec5362dd" providerId="LiveId" clId="{4096C4C6-0385-4466-8E85-1E8BE9A3AB2E}" dt="2025-05-08T08:01:40.310" v="108" actId="20577"/>
          <ac:spMkLst>
            <pc:docMk/>
            <pc:sldMk cId="3618355863" sldId="259"/>
            <ac:spMk id="2" creationId="{23165370-71E3-C7CE-89CA-4493EE5B6D5A}"/>
          </ac:spMkLst>
        </pc:spChg>
        <pc:spChg chg="mod">
          <ac:chgData name="Gowtham R" userId="8706b9fbec5362dd" providerId="LiveId" clId="{4096C4C6-0385-4466-8E85-1E8BE9A3AB2E}" dt="2025-05-08T07:55:20.472" v="14" actId="123"/>
          <ac:spMkLst>
            <pc:docMk/>
            <pc:sldMk cId="3618355863" sldId="259"/>
            <ac:spMk id="3" creationId="{B5DC2F18-05B1-2C39-53AD-BB9866699CDB}"/>
          </ac:spMkLst>
        </pc:spChg>
      </pc:sldChg>
      <pc:sldChg chg="addSp delSp modSp del mod">
        <pc:chgData name="Gowtham R" userId="8706b9fbec5362dd" providerId="LiveId" clId="{4096C4C6-0385-4466-8E85-1E8BE9A3AB2E}" dt="2025-05-08T07:56:35.875" v="16" actId="2696"/>
        <pc:sldMkLst>
          <pc:docMk/>
          <pc:sldMk cId="1619864882" sldId="260"/>
        </pc:sldMkLst>
        <pc:spChg chg="del">
          <ac:chgData name="Gowtham R" userId="8706b9fbec5362dd" providerId="LiveId" clId="{4096C4C6-0385-4466-8E85-1E8BE9A3AB2E}" dt="2025-05-08T07:56:16.224" v="15" actId="21"/>
          <ac:spMkLst>
            <pc:docMk/>
            <pc:sldMk cId="1619864882" sldId="260"/>
            <ac:spMk id="3" creationId="{E58642E5-3A73-49EF-25B1-0863E5822AFD}"/>
          </ac:spMkLst>
        </pc:spChg>
        <pc:spChg chg="add mod">
          <ac:chgData name="Gowtham R" userId="8706b9fbec5362dd" providerId="LiveId" clId="{4096C4C6-0385-4466-8E85-1E8BE9A3AB2E}" dt="2025-05-08T07:56:16.224" v="15" actId="21"/>
          <ac:spMkLst>
            <pc:docMk/>
            <pc:sldMk cId="1619864882" sldId="260"/>
            <ac:spMk id="4" creationId="{9F4ACFFF-622B-3C72-5571-897D71D65574}"/>
          </ac:spMkLst>
        </pc:spChg>
      </pc:sldChg>
      <pc:sldChg chg="modSp mod">
        <pc:chgData name="Gowtham R" userId="8706b9fbec5362dd" providerId="LiveId" clId="{4096C4C6-0385-4466-8E85-1E8BE9A3AB2E}" dt="2025-05-08T08:01:18.926" v="90" actId="20577"/>
        <pc:sldMkLst>
          <pc:docMk/>
          <pc:sldMk cId="90672019" sldId="261"/>
        </pc:sldMkLst>
        <pc:spChg chg="mod">
          <ac:chgData name="Gowtham R" userId="8706b9fbec5362dd" providerId="LiveId" clId="{4096C4C6-0385-4466-8E85-1E8BE9A3AB2E}" dt="2025-05-08T08:01:18.926" v="90" actId="20577"/>
          <ac:spMkLst>
            <pc:docMk/>
            <pc:sldMk cId="90672019" sldId="261"/>
            <ac:spMk id="2" creationId="{095043D5-2137-60E1-AC21-5DE03CA8E1E6}"/>
          </ac:spMkLst>
        </pc:spChg>
        <pc:spChg chg="mod">
          <ac:chgData name="Gowtham R" userId="8706b9fbec5362dd" providerId="LiveId" clId="{4096C4C6-0385-4466-8E85-1E8BE9A3AB2E}" dt="2025-05-07T17:54:02.350" v="3"/>
          <ac:spMkLst>
            <pc:docMk/>
            <pc:sldMk cId="90672019" sldId="261"/>
            <ac:spMk id="3" creationId="{9F7587DD-D2A0-499C-DCB5-B952BC21DD76}"/>
          </ac:spMkLst>
        </pc:spChg>
      </pc:sldChg>
      <pc:sldChg chg="modSp mod">
        <pc:chgData name="Gowtham R" userId="8706b9fbec5362dd" providerId="LiveId" clId="{4096C4C6-0385-4466-8E85-1E8BE9A3AB2E}" dt="2025-05-08T08:03:25.758" v="135" actId="207"/>
        <pc:sldMkLst>
          <pc:docMk/>
          <pc:sldMk cId="73059012" sldId="263"/>
        </pc:sldMkLst>
        <pc:spChg chg="mod">
          <ac:chgData name="Gowtham R" userId="8706b9fbec5362dd" providerId="LiveId" clId="{4096C4C6-0385-4466-8E85-1E8BE9A3AB2E}" dt="2025-05-08T08:03:25.758" v="135" actId="207"/>
          <ac:spMkLst>
            <pc:docMk/>
            <pc:sldMk cId="73059012" sldId="263"/>
            <ac:spMk id="2" creationId="{00A5DE43-B8C0-AA18-8CCD-F86465D26E3B}"/>
          </ac:spMkLst>
        </pc:spChg>
      </pc:sldChg>
      <pc:sldChg chg="modSp mod">
        <pc:chgData name="Gowtham R" userId="8706b9fbec5362dd" providerId="LiveId" clId="{4096C4C6-0385-4466-8E85-1E8BE9A3AB2E}" dt="2025-05-08T08:03:34.929" v="138" actId="207"/>
        <pc:sldMkLst>
          <pc:docMk/>
          <pc:sldMk cId="1114509004" sldId="265"/>
        </pc:sldMkLst>
        <pc:spChg chg="mod">
          <ac:chgData name="Gowtham R" userId="8706b9fbec5362dd" providerId="LiveId" clId="{4096C4C6-0385-4466-8E85-1E8BE9A3AB2E}" dt="2025-05-08T08:03:34.929" v="138" actId="207"/>
          <ac:spMkLst>
            <pc:docMk/>
            <pc:sldMk cId="1114509004" sldId="265"/>
            <ac:spMk id="2" creationId="{874B3765-EDFA-90A9-E7C6-2B1A98FC0638}"/>
          </ac:spMkLst>
        </pc:spChg>
        <pc:spChg chg="mod">
          <ac:chgData name="Gowtham R" userId="8706b9fbec5362dd" providerId="LiveId" clId="{4096C4C6-0385-4466-8E85-1E8BE9A3AB2E}" dt="2025-05-08T08:03:33.318" v="137" actId="113"/>
          <ac:spMkLst>
            <pc:docMk/>
            <pc:sldMk cId="1114509004" sldId="265"/>
            <ac:spMk id="3" creationId="{160F4DA2-ECF7-598F-47EC-DA38985475BB}"/>
          </ac:spMkLst>
        </pc:spChg>
      </pc:sldChg>
      <pc:sldChg chg="modSp">
        <pc:chgData name="Gowtham R" userId="8706b9fbec5362dd" providerId="LiveId" clId="{4096C4C6-0385-4466-8E85-1E8BE9A3AB2E}" dt="2025-05-07T17:54:02.350" v="3"/>
        <pc:sldMkLst>
          <pc:docMk/>
          <pc:sldMk cId="788381567" sldId="267"/>
        </pc:sldMkLst>
        <pc:spChg chg="mod">
          <ac:chgData name="Gowtham R" userId="8706b9fbec5362dd" providerId="LiveId" clId="{4096C4C6-0385-4466-8E85-1E8BE9A3AB2E}" dt="2025-05-07T17:54:02.350" v="3"/>
          <ac:spMkLst>
            <pc:docMk/>
            <pc:sldMk cId="788381567" sldId="267"/>
            <ac:spMk id="2" creationId="{1E9C4ADC-7AAC-612C-F283-615703CC5E1D}"/>
          </ac:spMkLst>
        </pc:spChg>
      </pc:sldChg>
      <pc:sldChg chg="modSp">
        <pc:chgData name="Gowtham R" userId="8706b9fbec5362dd" providerId="LiveId" clId="{4096C4C6-0385-4466-8E85-1E8BE9A3AB2E}" dt="2025-05-07T17:54:02.350" v="3"/>
        <pc:sldMkLst>
          <pc:docMk/>
          <pc:sldMk cId="4077782278" sldId="268"/>
        </pc:sldMkLst>
        <pc:spChg chg="mod">
          <ac:chgData name="Gowtham R" userId="8706b9fbec5362dd" providerId="LiveId" clId="{4096C4C6-0385-4466-8E85-1E8BE9A3AB2E}" dt="2025-05-07T17:54:02.350" v="3"/>
          <ac:spMkLst>
            <pc:docMk/>
            <pc:sldMk cId="4077782278" sldId="268"/>
            <ac:spMk id="2" creationId="{5344E1EA-0FCE-37F1-0AB1-798B316AC4AF}"/>
          </ac:spMkLst>
        </pc:spChg>
        <pc:spChg chg="mod">
          <ac:chgData name="Gowtham R" userId="8706b9fbec5362dd" providerId="LiveId" clId="{4096C4C6-0385-4466-8E85-1E8BE9A3AB2E}" dt="2025-05-07T17:54:02.350" v="3"/>
          <ac:spMkLst>
            <pc:docMk/>
            <pc:sldMk cId="4077782278" sldId="268"/>
            <ac:spMk id="3" creationId="{DD150AF7-0322-9186-3387-E7A49FDC2A14}"/>
          </ac:spMkLst>
        </pc:spChg>
      </pc:sldChg>
      <pc:sldChg chg="modSp">
        <pc:chgData name="Gowtham R" userId="8706b9fbec5362dd" providerId="LiveId" clId="{4096C4C6-0385-4466-8E85-1E8BE9A3AB2E}" dt="2025-05-07T17:54:02.350" v="3"/>
        <pc:sldMkLst>
          <pc:docMk/>
          <pc:sldMk cId="1573220713" sldId="269"/>
        </pc:sldMkLst>
        <pc:spChg chg="mod">
          <ac:chgData name="Gowtham R" userId="8706b9fbec5362dd" providerId="LiveId" clId="{4096C4C6-0385-4466-8E85-1E8BE9A3AB2E}" dt="2025-05-07T17:54:02.350" v="3"/>
          <ac:spMkLst>
            <pc:docMk/>
            <pc:sldMk cId="1573220713" sldId="269"/>
            <ac:spMk id="2" creationId="{3FEAD7AD-FB8B-55A3-BB5D-29F6B7C4C0FA}"/>
          </ac:spMkLst>
        </pc:spChg>
        <pc:spChg chg="mod">
          <ac:chgData name="Gowtham R" userId="8706b9fbec5362dd" providerId="LiveId" clId="{4096C4C6-0385-4466-8E85-1E8BE9A3AB2E}" dt="2025-05-07T17:54:02.350" v="3"/>
          <ac:spMkLst>
            <pc:docMk/>
            <pc:sldMk cId="1573220713" sldId="269"/>
            <ac:spMk id="3" creationId="{8AE2400E-B951-3009-D86B-C4CC4A944E1A}"/>
          </ac:spMkLst>
        </pc:spChg>
      </pc:sldChg>
      <pc:sldChg chg="modSp">
        <pc:chgData name="Gowtham R" userId="8706b9fbec5362dd" providerId="LiveId" clId="{4096C4C6-0385-4466-8E85-1E8BE9A3AB2E}" dt="2025-05-07T17:54:02.350" v="3"/>
        <pc:sldMkLst>
          <pc:docMk/>
          <pc:sldMk cId="1224536488" sldId="270"/>
        </pc:sldMkLst>
        <pc:spChg chg="mod">
          <ac:chgData name="Gowtham R" userId="8706b9fbec5362dd" providerId="LiveId" clId="{4096C4C6-0385-4466-8E85-1E8BE9A3AB2E}" dt="2025-05-07T17:54:02.350" v="3"/>
          <ac:spMkLst>
            <pc:docMk/>
            <pc:sldMk cId="1224536488" sldId="270"/>
            <ac:spMk id="2" creationId="{73313056-0DFC-A569-658B-C62B60EAFF28}"/>
          </ac:spMkLst>
        </pc:spChg>
      </pc:sldChg>
      <pc:sldChg chg="modSp">
        <pc:chgData name="Gowtham R" userId="8706b9fbec5362dd" providerId="LiveId" clId="{4096C4C6-0385-4466-8E85-1E8BE9A3AB2E}" dt="2025-05-07T17:54:02.350" v="3"/>
        <pc:sldMkLst>
          <pc:docMk/>
          <pc:sldMk cId="1205870073" sldId="272"/>
        </pc:sldMkLst>
        <pc:spChg chg="mod">
          <ac:chgData name="Gowtham R" userId="8706b9fbec5362dd" providerId="LiveId" clId="{4096C4C6-0385-4466-8E85-1E8BE9A3AB2E}" dt="2025-05-07T17:54:02.350" v="3"/>
          <ac:spMkLst>
            <pc:docMk/>
            <pc:sldMk cId="1205870073" sldId="272"/>
            <ac:spMk id="2" creationId="{050834DF-BE21-17BF-0B5D-458018965008}"/>
          </ac:spMkLst>
        </pc:spChg>
        <pc:spChg chg="mod">
          <ac:chgData name="Gowtham R" userId="8706b9fbec5362dd" providerId="LiveId" clId="{4096C4C6-0385-4466-8E85-1E8BE9A3AB2E}" dt="2025-05-07T17:54:02.350" v="3"/>
          <ac:spMkLst>
            <pc:docMk/>
            <pc:sldMk cId="1205870073" sldId="272"/>
            <ac:spMk id="3" creationId="{733171C8-DE38-0602-FF7B-0FCBBF48B672}"/>
          </ac:spMkLst>
        </pc:spChg>
      </pc:sldChg>
      <pc:sldChg chg="modSp del">
        <pc:chgData name="Gowtham R" userId="8706b9fbec5362dd" providerId="LiveId" clId="{4096C4C6-0385-4466-8E85-1E8BE9A3AB2E}" dt="2025-05-08T09:23:46.665" v="143" actId="2696"/>
        <pc:sldMkLst>
          <pc:docMk/>
          <pc:sldMk cId="693932271" sldId="276"/>
        </pc:sldMkLst>
        <pc:spChg chg="mod">
          <ac:chgData name="Gowtham R" userId="8706b9fbec5362dd" providerId="LiveId" clId="{4096C4C6-0385-4466-8E85-1E8BE9A3AB2E}" dt="2025-05-07T17:54:02.350" v="3"/>
          <ac:spMkLst>
            <pc:docMk/>
            <pc:sldMk cId="693932271" sldId="276"/>
            <ac:spMk id="2" creationId="{58EEFB03-5312-5DC5-3ACF-1A10BCEB923A}"/>
          </ac:spMkLst>
        </pc:spChg>
        <pc:spChg chg="mod">
          <ac:chgData name="Gowtham R" userId="8706b9fbec5362dd" providerId="LiveId" clId="{4096C4C6-0385-4466-8E85-1E8BE9A3AB2E}" dt="2025-05-07T17:54:02.350" v="3"/>
          <ac:spMkLst>
            <pc:docMk/>
            <pc:sldMk cId="693932271" sldId="276"/>
            <ac:spMk id="3" creationId="{315E0CAD-5579-DABA-6A7E-AD7A17412CDA}"/>
          </ac:spMkLst>
        </pc:spChg>
      </pc:sldChg>
      <pc:sldChg chg="del">
        <pc:chgData name="Gowtham R" userId="8706b9fbec5362dd" providerId="LiveId" clId="{4096C4C6-0385-4466-8E85-1E8BE9A3AB2E}" dt="2025-05-08T09:23:58.468" v="144" actId="2696"/>
        <pc:sldMkLst>
          <pc:docMk/>
          <pc:sldMk cId="3602930959" sldId="277"/>
        </pc:sldMkLst>
      </pc:sldChg>
      <pc:sldChg chg="modSp del">
        <pc:chgData name="Gowtham R" userId="8706b9fbec5362dd" providerId="LiveId" clId="{4096C4C6-0385-4466-8E85-1E8BE9A3AB2E}" dt="2025-05-08T09:24:07.703" v="145" actId="2696"/>
        <pc:sldMkLst>
          <pc:docMk/>
          <pc:sldMk cId="3885800393" sldId="279"/>
        </pc:sldMkLst>
        <pc:spChg chg="mod">
          <ac:chgData name="Gowtham R" userId="8706b9fbec5362dd" providerId="LiveId" clId="{4096C4C6-0385-4466-8E85-1E8BE9A3AB2E}" dt="2025-05-07T17:54:02.350" v="3"/>
          <ac:spMkLst>
            <pc:docMk/>
            <pc:sldMk cId="3885800393" sldId="279"/>
            <ac:spMk id="2" creationId="{31E218D4-2E19-8AA1-4D29-6F9E3601B550}"/>
          </ac:spMkLst>
        </pc:spChg>
      </pc:sldChg>
      <pc:sldChg chg="modSp mod">
        <pc:chgData name="Gowtham R" userId="8706b9fbec5362dd" providerId="LiveId" clId="{4096C4C6-0385-4466-8E85-1E8BE9A3AB2E}" dt="2025-05-08T08:22:12.760" v="142" actId="20577"/>
        <pc:sldMkLst>
          <pc:docMk/>
          <pc:sldMk cId="4142207658" sldId="281"/>
        </pc:sldMkLst>
        <pc:spChg chg="mod">
          <ac:chgData name="Gowtham R" userId="8706b9fbec5362dd" providerId="LiveId" clId="{4096C4C6-0385-4466-8E85-1E8BE9A3AB2E}" dt="2025-05-08T08:22:12.760" v="142" actId="20577"/>
          <ac:spMkLst>
            <pc:docMk/>
            <pc:sldMk cId="4142207658" sldId="281"/>
            <ac:spMk id="4" creationId="{B507E682-53B8-A463-FBBB-7804ADE52FC9}"/>
          </ac:spMkLst>
        </pc:spChg>
      </pc:sldChg>
      <pc:sldChg chg="modSp">
        <pc:chgData name="Gowtham R" userId="8706b9fbec5362dd" providerId="LiveId" clId="{4096C4C6-0385-4466-8E85-1E8BE9A3AB2E}" dt="2025-05-07T17:54:02.350" v="3"/>
        <pc:sldMkLst>
          <pc:docMk/>
          <pc:sldMk cId="1422167854" sldId="283"/>
        </pc:sldMkLst>
        <pc:spChg chg="mod">
          <ac:chgData name="Gowtham R" userId="8706b9fbec5362dd" providerId="LiveId" clId="{4096C4C6-0385-4466-8E85-1E8BE9A3AB2E}" dt="2025-05-07T17:54:02.350" v="3"/>
          <ac:spMkLst>
            <pc:docMk/>
            <pc:sldMk cId="1422167854" sldId="283"/>
            <ac:spMk id="2" creationId="{C3D19573-4CAD-EBC1-B959-AC8C62530339}"/>
          </ac:spMkLst>
        </pc:spChg>
      </pc:sldChg>
      <pc:sldChg chg="modSp">
        <pc:chgData name="Gowtham R" userId="8706b9fbec5362dd" providerId="LiveId" clId="{4096C4C6-0385-4466-8E85-1E8BE9A3AB2E}" dt="2025-05-07T17:54:02.350" v="3"/>
        <pc:sldMkLst>
          <pc:docMk/>
          <pc:sldMk cId="2787235146" sldId="284"/>
        </pc:sldMkLst>
        <pc:spChg chg="mod">
          <ac:chgData name="Gowtham R" userId="8706b9fbec5362dd" providerId="LiveId" clId="{4096C4C6-0385-4466-8E85-1E8BE9A3AB2E}" dt="2025-05-07T17:54:02.350" v="3"/>
          <ac:spMkLst>
            <pc:docMk/>
            <pc:sldMk cId="2787235146" sldId="284"/>
            <ac:spMk id="2" creationId="{4FAC0728-66C9-879E-BAB5-3B8F6C1B041C}"/>
          </ac:spMkLst>
        </pc:spChg>
        <pc:picChg chg="mod">
          <ac:chgData name="Gowtham R" userId="8706b9fbec5362dd" providerId="LiveId" clId="{4096C4C6-0385-4466-8E85-1E8BE9A3AB2E}" dt="2025-05-07T17:54:02.350" v="3"/>
          <ac:picMkLst>
            <pc:docMk/>
            <pc:sldMk cId="2787235146" sldId="284"/>
            <ac:picMk id="5" creationId="{DBA21685-294F-D76F-6E50-A581402ACEAF}"/>
          </ac:picMkLst>
        </pc:picChg>
      </pc:sldChg>
      <pc:sldChg chg="modSp">
        <pc:chgData name="Gowtham R" userId="8706b9fbec5362dd" providerId="LiveId" clId="{4096C4C6-0385-4466-8E85-1E8BE9A3AB2E}" dt="2025-05-07T17:54:02.350" v="3"/>
        <pc:sldMkLst>
          <pc:docMk/>
          <pc:sldMk cId="1992561733" sldId="285"/>
        </pc:sldMkLst>
        <pc:spChg chg="mod">
          <ac:chgData name="Gowtham R" userId="8706b9fbec5362dd" providerId="LiveId" clId="{4096C4C6-0385-4466-8E85-1E8BE9A3AB2E}" dt="2025-05-07T17:54:02.350" v="3"/>
          <ac:spMkLst>
            <pc:docMk/>
            <pc:sldMk cId="1992561733" sldId="285"/>
            <ac:spMk id="2" creationId="{80C39B51-D316-4ED6-A626-FD8E4CA5AEFE}"/>
          </ac:spMkLst>
        </pc:spChg>
        <pc:picChg chg="mod">
          <ac:chgData name="Gowtham R" userId="8706b9fbec5362dd" providerId="LiveId" clId="{4096C4C6-0385-4466-8E85-1E8BE9A3AB2E}" dt="2025-05-07T17:54:02.350" v="3"/>
          <ac:picMkLst>
            <pc:docMk/>
            <pc:sldMk cId="1992561733" sldId="285"/>
            <ac:picMk id="5" creationId="{1BE9EA61-172B-2A33-2F11-C47C8BE4A8F1}"/>
          </ac:picMkLst>
        </pc:picChg>
      </pc:sldChg>
      <pc:sldChg chg="modSp">
        <pc:chgData name="Gowtham R" userId="8706b9fbec5362dd" providerId="LiveId" clId="{4096C4C6-0385-4466-8E85-1E8BE9A3AB2E}" dt="2025-05-07T17:54:02.350" v="3"/>
        <pc:sldMkLst>
          <pc:docMk/>
          <pc:sldMk cId="2012101931" sldId="286"/>
        </pc:sldMkLst>
        <pc:spChg chg="mod">
          <ac:chgData name="Gowtham R" userId="8706b9fbec5362dd" providerId="LiveId" clId="{4096C4C6-0385-4466-8E85-1E8BE9A3AB2E}" dt="2025-05-07T17:54:02.350" v="3"/>
          <ac:spMkLst>
            <pc:docMk/>
            <pc:sldMk cId="2012101931" sldId="286"/>
            <ac:spMk id="2" creationId="{3B3C4C01-9B83-5982-C3EC-06E7FF6CB371}"/>
          </ac:spMkLst>
        </pc:spChg>
        <pc:picChg chg="mod">
          <ac:chgData name="Gowtham R" userId="8706b9fbec5362dd" providerId="LiveId" clId="{4096C4C6-0385-4466-8E85-1E8BE9A3AB2E}" dt="2025-05-07T17:54:02.350" v="3"/>
          <ac:picMkLst>
            <pc:docMk/>
            <pc:sldMk cId="2012101931" sldId="286"/>
            <ac:picMk id="5" creationId="{F5D6A989-C63E-C33C-38A2-2652AB60EAAA}"/>
          </ac:picMkLst>
        </pc:picChg>
      </pc:sldChg>
      <pc:sldChg chg="modSp">
        <pc:chgData name="Gowtham R" userId="8706b9fbec5362dd" providerId="LiveId" clId="{4096C4C6-0385-4466-8E85-1E8BE9A3AB2E}" dt="2025-05-07T17:54:02.350" v="3"/>
        <pc:sldMkLst>
          <pc:docMk/>
          <pc:sldMk cId="2705726628" sldId="287"/>
        </pc:sldMkLst>
        <pc:spChg chg="mod">
          <ac:chgData name="Gowtham R" userId="8706b9fbec5362dd" providerId="LiveId" clId="{4096C4C6-0385-4466-8E85-1E8BE9A3AB2E}" dt="2025-05-07T17:54:02.350" v="3"/>
          <ac:spMkLst>
            <pc:docMk/>
            <pc:sldMk cId="2705726628" sldId="287"/>
            <ac:spMk id="2" creationId="{9C39F9CE-9438-4D14-89DB-E20CE3E45ABF}"/>
          </ac:spMkLst>
        </pc:spChg>
        <pc:picChg chg="mod">
          <ac:chgData name="Gowtham R" userId="8706b9fbec5362dd" providerId="LiveId" clId="{4096C4C6-0385-4466-8E85-1E8BE9A3AB2E}" dt="2025-05-07T17:54:02.350" v="3"/>
          <ac:picMkLst>
            <pc:docMk/>
            <pc:sldMk cId="2705726628" sldId="287"/>
            <ac:picMk id="5" creationId="{BAF00B31-28BC-B44E-A588-280FD3D3B77D}"/>
          </ac:picMkLst>
        </pc:picChg>
      </pc:sldChg>
      <pc:sldChg chg="modSp mod">
        <pc:chgData name="Gowtham R" userId="8706b9fbec5362dd" providerId="LiveId" clId="{4096C4C6-0385-4466-8E85-1E8BE9A3AB2E}" dt="2025-05-07T17:54:02.350" v="3"/>
        <pc:sldMkLst>
          <pc:docMk/>
          <pc:sldMk cId="3438830424" sldId="288"/>
        </pc:sldMkLst>
        <pc:spChg chg="mod">
          <ac:chgData name="Gowtham R" userId="8706b9fbec5362dd" providerId="LiveId" clId="{4096C4C6-0385-4466-8E85-1E8BE9A3AB2E}" dt="2025-05-07T17:54:02.350" v="3"/>
          <ac:spMkLst>
            <pc:docMk/>
            <pc:sldMk cId="3438830424" sldId="288"/>
            <ac:spMk id="2" creationId="{A1AA2348-E604-7062-DC0C-7FC7226888B8}"/>
          </ac:spMkLst>
        </pc:spChg>
        <pc:picChg chg="mod">
          <ac:chgData name="Gowtham R" userId="8706b9fbec5362dd" providerId="LiveId" clId="{4096C4C6-0385-4466-8E85-1E8BE9A3AB2E}" dt="2025-05-07T17:53:52.258" v="2" actId="14100"/>
          <ac:picMkLst>
            <pc:docMk/>
            <pc:sldMk cId="3438830424" sldId="288"/>
            <ac:picMk id="22" creationId="{6CFCEA53-F29B-2C5D-8721-D73303163AB6}"/>
          </ac:picMkLst>
        </pc:picChg>
      </pc:sldChg>
      <pc:sldChg chg="modSp mod">
        <pc:chgData name="Gowtham R" userId="8706b9fbec5362dd" providerId="LiveId" clId="{4096C4C6-0385-4466-8E85-1E8BE9A3AB2E}" dt="2025-05-07T17:54:40.091" v="4" actId="2711"/>
        <pc:sldMkLst>
          <pc:docMk/>
          <pc:sldMk cId="3402132605" sldId="289"/>
        </pc:sldMkLst>
        <pc:spChg chg="mod">
          <ac:chgData name="Gowtham R" userId="8706b9fbec5362dd" providerId="LiveId" clId="{4096C4C6-0385-4466-8E85-1E8BE9A3AB2E}" dt="2025-05-07T17:54:40.091" v="4" actId="2711"/>
          <ac:spMkLst>
            <pc:docMk/>
            <pc:sldMk cId="3402132605" sldId="289"/>
            <ac:spMk id="2" creationId="{9544EF7E-0499-DB78-513A-826F906F2DC1}"/>
          </ac:spMkLst>
        </pc:spChg>
        <pc:picChg chg="mod">
          <ac:chgData name="Gowtham R" userId="8706b9fbec5362dd" providerId="LiveId" clId="{4096C4C6-0385-4466-8E85-1E8BE9A3AB2E}" dt="2025-05-07T17:54:02.350" v="3"/>
          <ac:picMkLst>
            <pc:docMk/>
            <pc:sldMk cId="3402132605" sldId="289"/>
            <ac:picMk id="5" creationId="{9AC48A1E-D49F-3BD0-A850-2F0CE5A06CF5}"/>
          </ac:picMkLst>
        </pc:picChg>
      </pc:sldChg>
      <pc:sldChg chg="modSp">
        <pc:chgData name="Gowtham R" userId="8706b9fbec5362dd" providerId="LiveId" clId="{4096C4C6-0385-4466-8E85-1E8BE9A3AB2E}" dt="2025-05-07T17:54:02.350" v="3"/>
        <pc:sldMkLst>
          <pc:docMk/>
          <pc:sldMk cId="373721821" sldId="290"/>
        </pc:sldMkLst>
        <pc:spChg chg="mod">
          <ac:chgData name="Gowtham R" userId="8706b9fbec5362dd" providerId="LiveId" clId="{4096C4C6-0385-4466-8E85-1E8BE9A3AB2E}" dt="2025-05-07T17:54:02.350" v="3"/>
          <ac:spMkLst>
            <pc:docMk/>
            <pc:sldMk cId="373721821" sldId="290"/>
            <ac:spMk id="2" creationId="{8B880087-BBC9-A8F9-09B4-BAA7DB8AC3A6}"/>
          </ac:spMkLst>
        </pc:spChg>
        <pc:picChg chg="mod">
          <ac:chgData name="Gowtham R" userId="8706b9fbec5362dd" providerId="LiveId" clId="{4096C4C6-0385-4466-8E85-1E8BE9A3AB2E}" dt="2025-05-07T17:54:02.350" v="3"/>
          <ac:picMkLst>
            <pc:docMk/>
            <pc:sldMk cId="373721821" sldId="290"/>
            <ac:picMk id="5" creationId="{AFCFB930-D792-FE42-8958-EAA7D21E6244}"/>
          </ac:picMkLst>
        </pc:picChg>
      </pc:sldChg>
      <pc:sldChg chg="modSp">
        <pc:chgData name="Gowtham R" userId="8706b9fbec5362dd" providerId="LiveId" clId="{4096C4C6-0385-4466-8E85-1E8BE9A3AB2E}" dt="2025-05-07T17:54:02.350" v="3"/>
        <pc:sldMkLst>
          <pc:docMk/>
          <pc:sldMk cId="2921659341" sldId="291"/>
        </pc:sldMkLst>
        <pc:spChg chg="mod">
          <ac:chgData name="Gowtham R" userId="8706b9fbec5362dd" providerId="LiveId" clId="{4096C4C6-0385-4466-8E85-1E8BE9A3AB2E}" dt="2025-05-07T17:54:02.350" v="3"/>
          <ac:spMkLst>
            <pc:docMk/>
            <pc:sldMk cId="2921659341" sldId="291"/>
            <ac:spMk id="2" creationId="{C2FCB71F-CC72-B4D2-158D-1B07006CA3C0}"/>
          </ac:spMkLst>
        </pc:spChg>
        <pc:spChg chg="mod">
          <ac:chgData name="Gowtham R" userId="8706b9fbec5362dd" providerId="LiveId" clId="{4096C4C6-0385-4466-8E85-1E8BE9A3AB2E}" dt="2025-05-07T17:54:02.350" v="3"/>
          <ac:spMkLst>
            <pc:docMk/>
            <pc:sldMk cId="2921659341" sldId="291"/>
            <ac:spMk id="3" creationId="{485B91BC-2838-614B-CBD6-BE25F0B8DF4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9E1F3-97A1-1F34-B74D-1C8A0E43C9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773B45-843C-67EB-E87C-6B5A62DBDF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BC76BD8-95F5-3EB3-38F8-1D706450163E}"/>
              </a:ext>
            </a:extLst>
          </p:cNvPr>
          <p:cNvSpPr>
            <a:spLocks noGrp="1"/>
          </p:cNvSpPr>
          <p:nvPr>
            <p:ph type="dt" sz="half" idx="10"/>
          </p:nvPr>
        </p:nvSpPr>
        <p:spPr/>
        <p:txBody>
          <a:bodyPr/>
          <a:lstStyle/>
          <a:p>
            <a:fld id="{413D2E88-61A9-4A59-AE0D-1BFF4538C3FB}" type="datetimeFigureOut">
              <a:rPr lang="en-US" smtClean="0"/>
              <a:t>5/8/2025</a:t>
            </a:fld>
            <a:endParaRPr lang="en-US"/>
          </a:p>
        </p:txBody>
      </p:sp>
      <p:sp>
        <p:nvSpPr>
          <p:cNvPr id="5" name="Footer Placeholder 4">
            <a:extLst>
              <a:ext uri="{FF2B5EF4-FFF2-40B4-BE49-F238E27FC236}">
                <a16:creationId xmlns:a16="http://schemas.microsoft.com/office/drawing/2014/main" id="{8778EA78-9D7A-3DC0-0882-FBB3BAE462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4A3B73-1FA9-F265-6ADC-24044422D695}"/>
              </a:ext>
            </a:extLst>
          </p:cNvPr>
          <p:cNvSpPr>
            <a:spLocks noGrp="1"/>
          </p:cNvSpPr>
          <p:nvPr>
            <p:ph type="sldNum" sz="quarter" idx="12"/>
          </p:nvPr>
        </p:nvSpPr>
        <p:spPr/>
        <p:txBody>
          <a:bodyPr/>
          <a:lstStyle/>
          <a:p>
            <a:fld id="{D8A2A3F5-C515-4FBA-9640-738E24AD60D6}" type="slidenum">
              <a:rPr lang="en-US" smtClean="0"/>
              <a:t>‹#›</a:t>
            </a:fld>
            <a:endParaRPr lang="en-US"/>
          </a:p>
        </p:txBody>
      </p:sp>
    </p:spTree>
    <p:extLst>
      <p:ext uri="{BB962C8B-B14F-4D97-AF65-F5344CB8AC3E}">
        <p14:creationId xmlns:p14="http://schemas.microsoft.com/office/powerpoint/2010/main" val="2644584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85E48-D372-1D6D-2579-C5564A1547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815494-0A8D-FCAB-82F6-8420C6EB58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11949D-4F10-84ED-3310-CF70012497BD}"/>
              </a:ext>
            </a:extLst>
          </p:cNvPr>
          <p:cNvSpPr>
            <a:spLocks noGrp="1"/>
          </p:cNvSpPr>
          <p:nvPr>
            <p:ph type="dt" sz="half" idx="10"/>
          </p:nvPr>
        </p:nvSpPr>
        <p:spPr/>
        <p:txBody>
          <a:bodyPr/>
          <a:lstStyle/>
          <a:p>
            <a:fld id="{413D2E88-61A9-4A59-AE0D-1BFF4538C3FB}" type="datetimeFigureOut">
              <a:rPr lang="en-US" smtClean="0"/>
              <a:t>5/8/2025</a:t>
            </a:fld>
            <a:endParaRPr lang="en-US"/>
          </a:p>
        </p:txBody>
      </p:sp>
      <p:sp>
        <p:nvSpPr>
          <p:cNvPr id="5" name="Footer Placeholder 4">
            <a:extLst>
              <a:ext uri="{FF2B5EF4-FFF2-40B4-BE49-F238E27FC236}">
                <a16:creationId xmlns:a16="http://schemas.microsoft.com/office/drawing/2014/main" id="{17C28A4C-E3DF-23B4-7931-07EBE7FD1C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204D73-598C-A308-85C2-C51DA91A1738}"/>
              </a:ext>
            </a:extLst>
          </p:cNvPr>
          <p:cNvSpPr>
            <a:spLocks noGrp="1"/>
          </p:cNvSpPr>
          <p:nvPr>
            <p:ph type="sldNum" sz="quarter" idx="12"/>
          </p:nvPr>
        </p:nvSpPr>
        <p:spPr/>
        <p:txBody>
          <a:bodyPr/>
          <a:lstStyle/>
          <a:p>
            <a:fld id="{D8A2A3F5-C515-4FBA-9640-738E24AD60D6}" type="slidenum">
              <a:rPr lang="en-US" smtClean="0"/>
              <a:t>‹#›</a:t>
            </a:fld>
            <a:endParaRPr lang="en-US"/>
          </a:p>
        </p:txBody>
      </p:sp>
    </p:spTree>
    <p:extLst>
      <p:ext uri="{BB962C8B-B14F-4D97-AF65-F5344CB8AC3E}">
        <p14:creationId xmlns:p14="http://schemas.microsoft.com/office/powerpoint/2010/main" val="3920438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D4CCE-2414-FF77-F4F4-EAD3B19A71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327DCDC-63D6-C5C7-B133-FF00DE9435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386BBA-CD0C-8088-91FB-B6B0D29FFBF6}"/>
              </a:ext>
            </a:extLst>
          </p:cNvPr>
          <p:cNvSpPr>
            <a:spLocks noGrp="1"/>
          </p:cNvSpPr>
          <p:nvPr>
            <p:ph type="dt" sz="half" idx="10"/>
          </p:nvPr>
        </p:nvSpPr>
        <p:spPr/>
        <p:txBody>
          <a:bodyPr/>
          <a:lstStyle/>
          <a:p>
            <a:fld id="{413D2E88-61A9-4A59-AE0D-1BFF4538C3FB}" type="datetimeFigureOut">
              <a:rPr lang="en-US" smtClean="0"/>
              <a:t>5/8/2025</a:t>
            </a:fld>
            <a:endParaRPr lang="en-US"/>
          </a:p>
        </p:txBody>
      </p:sp>
      <p:sp>
        <p:nvSpPr>
          <p:cNvPr id="5" name="Footer Placeholder 4">
            <a:extLst>
              <a:ext uri="{FF2B5EF4-FFF2-40B4-BE49-F238E27FC236}">
                <a16:creationId xmlns:a16="http://schemas.microsoft.com/office/drawing/2014/main" id="{0DD61CB6-65AB-E3E4-A5E5-382731CEA6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572C6F-BF17-312C-76BE-FA3C81275481}"/>
              </a:ext>
            </a:extLst>
          </p:cNvPr>
          <p:cNvSpPr>
            <a:spLocks noGrp="1"/>
          </p:cNvSpPr>
          <p:nvPr>
            <p:ph type="sldNum" sz="quarter" idx="12"/>
          </p:nvPr>
        </p:nvSpPr>
        <p:spPr/>
        <p:txBody>
          <a:bodyPr/>
          <a:lstStyle/>
          <a:p>
            <a:fld id="{D8A2A3F5-C515-4FBA-9640-738E24AD60D6}" type="slidenum">
              <a:rPr lang="en-US" smtClean="0"/>
              <a:t>‹#›</a:t>
            </a:fld>
            <a:endParaRPr lang="en-US"/>
          </a:p>
        </p:txBody>
      </p:sp>
    </p:spTree>
    <p:extLst>
      <p:ext uri="{BB962C8B-B14F-4D97-AF65-F5344CB8AC3E}">
        <p14:creationId xmlns:p14="http://schemas.microsoft.com/office/powerpoint/2010/main" val="3328928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55C26-8E9E-DB3D-BF05-F03CC859DC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8ED54A-8A39-F783-97B2-79350C7EDC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E541813-D212-BE70-4D38-08869544321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2C56EEE-FC57-A402-C8A4-199863F1F674}"/>
              </a:ext>
            </a:extLst>
          </p:cNvPr>
          <p:cNvSpPr>
            <a:spLocks noGrp="1"/>
          </p:cNvSpPr>
          <p:nvPr>
            <p:ph type="dt" sz="half" idx="10"/>
          </p:nvPr>
        </p:nvSpPr>
        <p:spPr/>
        <p:txBody>
          <a:bodyPr/>
          <a:lstStyle/>
          <a:p>
            <a:fld id="{413D2E88-61A9-4A59-AE0D-1BFF4538C3FB}" type="datetimeFigureOut">
              <a:rPr lang="en-US" smtClean="0"/>
              <a:t>5/8/2025</a:t>
            </a:fld>
            <a:endParaRPr lang="en-US"/>
          </a:p>
        </p:txBody>
      </p:sp>
      <p:sp>
        <p:nvSpPr>
          <p:cNvPr id="6" name="Footer Placeholder 5">
            <a:extLst>
              <a:ext uri="{FF2B5EF4-FFF2-40B4-BE49-F238E27FC236}">
                <a16:creationId xmlns:a16="http://schemas.microsoft.com/office/drawing/2014/main" id="{F2722C9E-792B-7ED2-D995-5F4FC14B11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101252-E7EF-6F9C-8D21-5197E80EC27F}"/>
              </a:ext>
            </a:extLst>
          </p:cNvPr>
          <p:cNvSpPr>
            <a:spLocks noGrp="1"/>
          </p:cNvSpPr>
          <p:nvPr>
            <p:ph type="sldNum" sz="quarter" idx="12"/>
          </p:nvPr>
        </p:nvSpPr>
        <p:spPr/>
        <p:txBody>
          <a:bodyPr/>
          <a:lstStyle/>
          <a:p>
            <a:fld id="{D8A2A3F5-C515-4FBA-9640-738E24AD60D6}" type="slidenum">
              <a:rPr lang="en-US" smtClean="0"/>
              <a:t>‹#›</a:t>
            </a:fld>
            <a:endParaRPr lang="en-US"/>
          </a:p>
        </p:txBody>
      </p:sp>
    </p:spTree>
    <p:extLst>
      <p:ext uri="{BB962C8B-B14F-4D97-AF65-F5344CB8AC3E}">
        <p14:creationId xmlns:p14="http://schemas.microsoft.com/office/powerpoint/2010/main" val="475840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2B97D-3707-0547-4B84-461E8B6546B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C225DBB-D642-7176-667F-6DBE3BEEDE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5EB9E9-E872-DA2F-A279-72608F27F7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F6F739A-8BD6-69DC-05DB-A35D5A1863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F85642-7072-90AC-DF7E-E2F77E44F6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2475999-9A3A-C96D-6842-BD1BEFA78424}"/>
              </a:ext>
            </a:extLst>
          </p:cNvPr>
          <p:cNvSpPr>
            <a:spLocks noGrp="1"/>
          </p:cNvSpPr>
          <p:nvPr>
            <p:ph type="dt" sz="half" idx="10"/>
          </p:nvPr>
        </p:nvSpPr>
        <p:spPr/>
        <p:txBody>
          <a:bodyPr/>
          <a:lstStyle/>
          <a:p>
            <a:fld id="{413D2E88-61A9-4A59-AE0D-1BFF4538C3FB}" type="datetimeFigureOut">
              <a:rPr lang="en-US" smtClean="0"/>
              <a:t>5/8/2025</a:t>
            </a:fld>
            <a:endParaRPr lang="en-US"/>
          </a:p>
        </p:txBody>
      </p:sp>
      <p:sp>
        <p:nvSpPr>
          <p:cNvPr id="8" name="Footer Placeholder 7">
            <a:extLst>
              <a:ext uri="{FF2B5EF4-FFF2-40B4-BE49-F238E27FC236}">
                <a16:creationId xmlns:a16="http://schemas.microsoft.com/office/drawing/2014/main" id="{4E7CEDAF-04C4-07BD-4044-2D0B4EEE3E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5589EC-1297-5179-5D1F-CD584F745D5D}"/>
              </a:ext>
            </a:extLst>
          </p:cNvPr>
          <p:cNvSpPr>
            <a:spLocks noGrp="1"/>
          </p:cNvSpPr>
          <p:nvPr>
            <p:ph type="sldNum" sz="quarter" idx="12"/>
          </p:nvPr>
        </p:nvSpPr>
        <p:spPr/>
        <p:txBody>
          <a:bodyPr/>
          <a:lstStyle/>
          <a:p>
            <a:fld id="{D8A2A3F5-C515-4FBA-9640-738E24AD60D6}" type="slidenum">
              <a:rPr lang="en-US" smtClean="0"/>
              <a:t>‹#›</a:t>
            </a:fld>
            <a:endParaRPr lang="en-US"/>
          </a:p>
        </p:txBody>
      </p:sp>
    </p:spTree>
    <p:extLst>
      <p:ext uri="{BB962C8B-B14F-4D97-AF65-F5344CB8AC3E}">
        <p14:creationId xmlns:p14="http://schemas.microsoft.com/office/powerpoint/2010/main" val="602215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9A6BC-81C5-98E5-39C3-6937C8E156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27A690-F6B0-2D48-30D3-8F265ABDAEE0}"/>
              </a:ext>
            </a:extLst>
          </p:cNvPr>
          <p:cNvSpPr>
            <a:spLocks noGrp="1"/>
          </p:cNvSpPr>
          <p:nvPr>
            <p:ph type="dt" sz="half" idx="10"/>
          </p:nvPr>
        </p:nvSpPr>
        <p:spPr/>
        <p:txBody>
          <a:bodyPr/>
          <a:lstStyle/>
          <a:p>
            <a:fld id="{413D2E88-61A9-4A59-AE0D-1BFF4538C3FB}" type="datetimeFigureOut">
              <a:rPr lang="en-US" smtClean="0"/>
              <a:t>5/8/2025</a:t>
            </a:fld>
            <a:endParaRPr lang="en-US"/>
          </a:p>
        </p:txBody>
      </p:sp>
      <p:sp>
        <p:nvSpPr>
          <p:cNvPr id="4" name="Footer Placeholder 3">
            <a:extLst>
              <a:ext uri="{FF2B5EF4-FFF2-40B4-BE49-F238E27FC236}">
                <a16:creationId xmlns:a16="http://schemas.microsoft.com/office/drawing/2014/main" id="{E0ED96CA-0267-400F-176C-D42F70051F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6FC079-8841-DCF8-7114-EE35925622F0}"/>
              </a:ext>
            </a:extLst>
          </p:cNvPr>
          <p:cNvSpPr>
            <a:spLocks noGrp="1"/>
          </p:cNvSpPr>
          <p:nvPr>
            <p:ph type="sldNum" sz="quarter" idx="12"/>
          </p:nvPr>
        </p:nvSpPr>
        <p:spPr/>
        <p:txBody>
          <a:bodyPr/>
          <a:lstStyle/>
          <a:p>
            <a:fld id="{D8A2A3F5-C515-4FBA-9640-738E24AD60D6}" type="slidenum">
              <a:rPr lang="en-US" smtClean="0"/>
              <a:t>‹#›</a:t>
            </a:fld>
            <a:endParaRPr lang="en-US"/>
          </a:p>
        </p:txBody>
      </p:sp>
    </p:spTree>
    <p:extLst>
      <p:ext uri="{BB962C8B-B14F-4D97-AF65-F5344CB8AC3E}">
        <p14:creationId xmlns:p14="http://schemas.microsoft.com/office/powerpoint/2010/main" val="2077851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891E0B-9AF2-B309-1308-85C774AFD4A3}"/>
              </a:ext>
            </a:extLst>
          </p:cNvPr>
          <p:cNvSpPr>
            <a:spLocks noGrp="1"/>
          </p:cNvSpPr>
          <p:nvPr>
            <p:ph type="dt" sz="half" idx="10"/>
          </p:nvPr>
        </p:nvSpPr>
        <p:spPr/>
        <p:txBody>
          <a:bodyPr/>
          <a:lstStyle/>
          <a:p>
            <a:fld id="{413D2E88-61A9-4A59-AE0D-1BFF4538C3FB}" type="datetimeFigureOut">
              <a:rPr lang="en-US" smtClean="0"/>
              <a:t>5/8/2025</a:t>
            </a:fld>
            <a:endParaRPr lang="en-US"/>
          </a:p>
        </p:txBody>
      </p:sp>
      <p:sp>
        <p:nvSpPr>
          <p:cNvPr id="3" name="Footer Placeholder 2">
            <a:extLst>
              <a:ext uri="{FF2B5EF4-FFF2-40B4-BE49-F238E27FC236}">
                <a16:creationId xmlns:a16="http://schemas.microsoft.com/office/drawing/2014/main" id="{BEAC6AAA-2A9E-612D-F120-28DA187BCC7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FA94D40-9F42-6278-E76A-AAD8994AD84E}"/>
              </a:ext>
            </a:extLst>
          </p:cNvPr>
          <p:cNvSpPr>
            <a:spLocks noGrp="1"/>
          </p:cNvSpPr>
          <p:nvPr>
            <p:ph type="sldNum" sz="quarter" idx="12"/>
          </p:nvPr>
        </p:nvSpPr>
        <p:spPr/>
        <p:txBody>
          <a:bodyPr/>
          <a:lstStyle/>
          <a:p>
            <a:fld id="{D8A2A3F5-C515-4FBA-9640-738E24AD60D6}" type="slidenum">
              <a:rPr lang="en-US" smtClean="0"/>
              <a:t>‹#›</a:t>
            </a:fld>
            <a:endParaRPr lang="en-US"/>
          </a:p>
        </p:txBody>
      </p:sp>
    </p:spTree>
    <p:extLst>
      <p:ext uri="{BB962C8B-B14F-4D97-AF65-F5344CB8AC3E}">
        <p14:creationId xmlns:p14="http://schemas.microsoft.com/office/powerpoint/2010/main" val="30106720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197D3-2E79-EC3F-3BA3-3814E72E2A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A396C6A-4D76-ABF7-11E1-88AF2EE179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D0F249D-0A61-9651-0694-E3E29B6150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61890C-77D0-3D19-0084-3369B6501417}"/>
              </a:ext>
            </a:extLst>
          </p:cNvPr>
          <p:cNvSpPr>
            <a:spLocks noGrp="1"/>
          </p:cNvSpPr>
          <p:nvPr>
            <p:ph type="dt" sz="half" idx="10"/>
          </p:nvPr>
        </p:nvSpPr>
        <p:spPr/>
        <p:txBody>
          <a:bodyPr/>
          <a:lstStyle/>
          <a:p>
            <a:fld id="{413D2E88-61A9-4A59-AE0D-1BFF4538C3FB}" type="datetimeFigureOut">
              <a:rPr lang="en-US" smtClean="0"/>
              <a:t>5/8/2025</a:t>
            </a:fld>
            <a:endParaRPr lang="en-US"/>
          </a:p>
        </p:txBody>
      </p:sp>
      <p:sp>
        <p:nvSpPr>
          <p:cNvPr id="6" name="Footer Placeholder 5">
            <a:extLst>
              <a:ext uri="{FF2B5EF4-FFF2-40B4-BE49-F238E27FC236}">
                <a16:creationId xmlns:a16="http://schemas.microsoft.com/office/drawing/2014/main" id="{7B6D41C9-D0AF-C447-667F-8C40F61A47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E8B899-87E1-EB34-ABD4-95CF4D731354}"/>
              </a:ext>
            </a:extLst>
          </p:cNvPr>
          <p:cNvSpPr>
            <a:spLocks noGrp="1"/>
          </p:cNvSpPr>
          <p:nvPr>
            <p:ph type="sldNum" sz="quarter" idx="12"/>
          </p:nvPr>
        </p:nvSpPr>
        <p:spPr/>
        <p:txBody>
          <a:bodyPr/>
          <a:lstStyle/>
          <a:p>
            <a:fld id="{D8A2A3F5-C515-4FBA-9640-738E24AD60D6}" type="slidenum">
              <a:rPr lang="en-US" smtClean="0"/>
              <a:t>‹#›</a:t>
            </a:fld>
            <a:endParaRPr lang="en-US"/>
          </a:p>
        </p:txBody>
      </p:sp>
    </p:spTree>
    <p:extLst>
      <p:ext uri="{BB962C8B-B14F-4D97-AF65-F5344CB8AC3E}">
        <p14:creationId xmlns:p14="http://schemas.microsoft.com/office/powerpoint/2010/main" val="4143425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16E81-ECBD-6227-A168-D6019BCA98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E24506E-A5D4-846D-98DF-A7DBD202C3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FA5E506-5D9D-B697-7921-1BDFFD083A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5BC139-34BA-ED67-8944-617379DA93BD}"/>
              </a:ext>
            </a:extLst>
          </p:cNvPr>
          <p:cNvSpPr>
            <a:spLocks noGrp="1"/>
          </p:cNvSpPr>
          <p:nvPr>
            <p:ph type="dt" sz="half" idx="10"/>
          </p:nvPr>
        </p:nvSpPr>
        <p:spPr/>
        <p:txBody>
          <a:bodyPr/>
          <a:lstStyle/>
          <a:p>
            <a:fld id="{413D2E88-61A9-4A59-AE0D-1BFF4538C3FB}" type="datetimeFigureOut">
              <a:rPr lang="en-US" smtClean="0"/>
              <a:t>5/8/2025</a:t>
            </a:fld>
            <a:endParaRPr lang="en-US"/>
          </a:p>
        </p:txBody>
      </p:sp>
      <p:sp>
        <p:nvSpPr>
          <p:cNvPr id="6" name="Footer Placeholder 5">
            <a:extLst>
              <a:ext uri="{FF2B5EF4-FFF2-40B4-BE49-F238E27FC236}">
                <a16:creationId xmlns:a16="http://schemas.microsoft.com/office/drawing/2014/main" id="{648C406E-0D8A-49C7-4DC5-67754B3E4E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6C9244-82B9-48B8-FDB1-A847D1190124}"/>
              </a:ext>
            </a:extLst>
          </p:cNvPr>
          <p:cNvSpPr>
            <a:spLocks noGrp="1"/>
          </p:cNvSpPr>
          <p:nvPr>
            <p:ph type="sldNum" sz="quarter" idx="12"/>
          </p:nvPr>
        </p:nvSpPr>
        <p:spPr/>
        <p:txBody>
          <a:bodyPr/>
          <a:lstStyle/>
          <a:p>
            <a:fld id="{D8A2A3F5-C515-4FBA-9640-738E24AD60D6}" type="slidenum">
              <a:rPr lang="en-US" smtClean="0"/>
              <a:t>‹#›</a:t>
            </a:fld>
            <a:endParaRPr lang="en-US"/>
          </a:p>
        </p:txBody>
      </p:sp>
    </p:spTree>
    <p:extLst>
      <p:ext uri="{BB962C8B-B14F-4D97-AF65-F5344CB8AC3E}">
        <p14:creationId xmlns:p14="http://schemas.microsoft.com/office/powerpoint/2010/main" val="2969621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074EE-B291-4EBD-1F0F-45F50BFB379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4FA68F-7734-1F1A-49BA-A1CC23D424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2F0A28-7C62-52DE-047C-822EB752046A}"/>
              </a:ext>
            </a:extLst>
          </p:cNvPr>
          <p:cNvSpPr>
            <a:spLocks noGrp="1"/>
          </p:cNvSpPr>
          <p:nvPr>
            <p:ph type="dt" sz="half" idx="10"/>
          </p:nvPr>
        </p:nvSpPr>
        <p:spPr/>
        <p:txBody>
          <a:bodyPr/>
          <a:lstStyle/>
          <a:p>
            <a:fld id="{413D2E88-61A9-4A59-AE0D-1BFF4538C3FB}" type="datetimeFigureOut">
              <a:rPr lang="en-US" smtClean="0"/>
              <a:t>5/8/2025</a:t>
            </a:fld>
            <a:endParaRPr lang="en-US"/>
          </a:p>
        </p:txBody>
      </p:sp>
      <p:sp>
        <p:nvSpPr>
          <p:cNvPr id="5" name="Footer Placeholder 4">
            <a:extLst>
              <a:ext uri="{FF2B5EF4-FFF2-40B4-BE49-F238E27FC236}">
                <a16:creationId xmlns:a16="http://schemas.microsoft.com/office/drawing/2014/main" id="{BF05A4E1-3286-B8FD-6404-3DFEDC1D8F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C41B47-80D8-121C-603C-A61EA91B5446}"/>
              </a:ext>
            </a:extLst>
          </p:cNvPr>
          <p:cNvSpPr>
            <a:spLocks noGrp="1"/>
          </p:cNvSpPr>
          <p:nvPr>
            <p:ph type="sldNum" sz="quarter" idx="12"/>
          </p:nvPr>
        </p:nvSpPr>
        <p:spPr/>
        <p:txBody>
          <a:bodyPr/>
          <a:lstStyle/>
          <a:p>
            <a:fld id="{D8A2A3F5-C515-4FBA-9640-738E24AD60D6}" type="slidenum">
              <a:rPr lang="en-US" smtClean="0"/>
              <a:t>‹#›</a:t>
            </a:fld>
            <a:endParaRPr lang="en-US"/>
          </a:p>
        </p:txBody>
      </p:sp>
    </p:spTree>
    <p:extLst>
      <p:ext uri="{BB962C8B-B14F-4D97-AF65-F5344CB8AC3E}">
        <p14:creationId xmlns:p14="http://schemas.microsoft.com/office/powerpoint/2010/main" val="639307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F45306-0F48-361B-528B-F88D0F5445C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57587BB-C120-CCE9-1258-7B8EE0FE84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A7E58D-BB5A-8B23-1200-2ECD3FDF7DCA}"/>
              </a:ext>
            </a:extLst>
          </p:cNvPr>
          <p:cNvSpPr>
            <a:spLocks noGrp="1"/>
          </p:cNvSpPr>
          <p:nvPr>
            <p:ph type="dt" sz="half" idx="10"/>
          </p:nvPr>
        </p:nvSpPr>
        <p:spPr/>
        <p:txBody>
          <a:bodyPr/>
          <a:lstStyle/>
          <a:p>
            <a:fld id="{413D2E88-61A9-4A59-AE0D-1BFF4538C3FB}" type="datetimeFigureOut">
              <a:rPr lang="en-US" smtClean="0"/>
              <a:t>5/8/2025</a:t>
            </a:fld>
            <a:endParaRPr lang="en-US"/>
          </a:p>
        </p:txBody>
      </p:sp>
      <p:sp>
        <p:nvSpPr>
          <p:cNvPr id="5" name="Footer Placeholder 4">
            <a:extLst>
              <a:ext uri="{FF2B5EF4-FFF2-40B4-BE49-F238E27FC236}">
                <a16:creationId xmlns:a16="http://schemas.microsoft.com/office/drawing/2014/main" id="{2A820256-FDB1-503A-1C7E-2F8F3D22B9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B1AFCB-C6D2-8553-77A5-3DB8A14A9813}"/>
              </a:ext>
            </a:extLst>
          </p:cNvPr>
          <p:cNvSpPr>
            <a:spLocks noGrp="1"/>
          </p:cNvSpPr>
          <p:nvPr>
            <p:ph type="sldNum" sz="quarter" idx="12"/>
          </p:nvPr>
        </p:nvSpPr>
        <p:spPr/>
        <p:txBody>
          <a:bodyPr/>
          <a:lstStyle/>
          <a:p>
            <a:fld id="{D8A2A3F5-C515-4FBA-9640-738E24AD60D6}" type="slidenum">
              <a:rPr lang="en-US" smtClean="0"/>
              <a:t>‹#›</a:t>
            </a:fld>
            <a:endParaRPr lang="en-US"/>
          </a:p>
        </p:txBody>
      </p:sp>
    </p:spTree>
    <p:extLst>
      <p:ext uri="{BB962C8B-B14F-4D97-AF65-F5344CB8AC3E}">
        <p14:creationId xmlns:p14="http://schemas.microsoft.com/office/powerpoint/2010/main" val="219680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B4A9EC-8595-15DC-786B-CB7C0322A5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790EBC-87CE-5458-C711-6405F96D8B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EBD7B3-355E-51C2-8E6A-0DE5896EB2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3D2E88-61A9-4A59-AE0D-1BFF4538C3FB}" type="datetimeFigureOut">
              <a:rPr lang="en-US" smtClean="0"/>
              <a:t>5/8/2025</a:t>
            </a:fld>
            <a:endParaRPr lang="en-US"/>
          </a:p>
        </p:txBody>
      </p:sp>
      <p:sp>
        <p:nvSpPr>
          <p:cNvPr id="5" name="Footer Placeholder 4">
            <a:extLst>
              <a:ext uri="{FF2B5EF4-FFF2-40B4-BE49-F238E27FC236}">
                <a16:creationId xmlns:a16="http://schemas.microsoft.com/office/drawing/2014/main" id="{21A1D567-CA8F-4F50-1FE8-EF178736D5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D26030-221A-5A64-11DE-4A279193C1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A2A3F5-C515-4FBA-9640-738E24AD60D6}" type="slidenum">
              <a:rPr lang="en-US" smtClean="0"/>
              <a:t>‹#›</a:t>
            </a:fld>
            <a:endParaRPr lang="en-US"/>
          </a:p>
        </p:txBody>
      </p:sp>
    </p:spTree>
    <p:extLst>
      <p:ext uri="{BB962C8B-B14F-4D97-AF65-F5344CB8AC3E}">
        <p14:creationId xmlns:p14="http://schemas.microsoft.com/office/powerpoint/2010/main" val="28418654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7297A-9112-0525-19D0-608391F712E9}"/>
              </a:ext>
            </a:extLst>
          </p:cNvPr>
          <p:cNvSpPr>
            <a:spLocks noGrp="1"/>
          </p:cNvSpPr>
          <p:nvPr>
            <p:ph type="ctrTitle"/>
          </p:nvPr>
        </p:nvSpPr>
        <p:spPr>
          <a:xfrm>
            <a:off x="1524000" y="674914"/>
            <a:ext cx="9535886" cy="1937657"/>
          </a:xfrm>
        </p:spPr>
        <p:txBody>
          <a:bodyPr>
            <a:normAutofit/>
          </a:bodyPr>
          <a:lstStyle/>
          <a:p>
            <a:r>
              <a:rPr lang="en-US" sz="4000" b="1" dirty="0">
                <a:latin typeface="Bell MT" panose="02020503060305020303" pitchFamily="18" charset="0"/>
                <a:cs typeface="Times New Roman" panose="02020603050405020304" pitchFamily="18" charset="0"/>
              </a:rPr>
              <a:t>PREDICTING LEVELS OF DAMAGES TO BUILDINGS CAUSED BY EARTHQUAKE</a:t>
            </a:r>
          </a:p>
        </p:txBody>
      </p:sp>
      <p:sp>
        <p:nvSpPr>
          <p:cNvPr id="3" name="Subtitle 2">
            <a:extLst>
              <a:ext uri="{FF2B5EF4-FFF2-40B4-BE49-F238E27FC236}">
                <a16:creationId xmlns:a16="http://schemas.microsoft.com/office/drawing/2014/main" id="{E4313224-36C5-C17C-33F6-8373E9A7400E}"/>
              </a:ext>
            </a:extLst>
          </p:cNvPr>
          <p:cNvSpPr>
            <a:spLocks noGrp="1"/>
          </p:cNvSpPr>
          <p:nvPr>
            <p:ph type="subTitle" idx="1"/>
          </p:nvPr>
        </p:nvSpPr>
        <p:spPr>
          <a:xfrm>
            <a:off x="1524000" y="3037114"/>
            <a:ext cx="3766457" cy="2220686"/>
          </a:xfrm>
        </p:spPr>
        <p:txBody>
          <a:bodyPr>
            <a:normAutofit lnSpcReduction="10000"/>
          </a:bodyPr>
          <a:lstStyle/>
          <a:p>
            <a:pPr algn="l"/>
            <a:r>
              <a:rPr lang="en-US" b="1" dirty="0">
                <a:latin typeface="Bell MT" panose="02020503060305020303" pitchFamily="18" charset="0"/>
                <a:cs typeface="Times New Roman" panose="02020603050405020304" pitchFamily="18" charset="0"/>
              </a:rPr>
              <a:t>Presented by,</a:t>
            </a:r>
          </a:p>
          <a:p>
            <a:pPr algn="l"/>
            <a:r>
              <a:rPr lang="en-US" b="1" dirty="0">
                <a:latin typeface="Bell MT" panose="02020503060305020303" pitchFamily="18" charset="0"/>
              </a:rPr>
              <a:t>ARULSELVAM M</a:t>
            </a:r>
          </a:p>
          <a:p>
            <a:pPr algn="l"/>
            <a:r>
              <a:rPr lang="en-US" b="1" dirty="0">
                <a:latin typeface="Bell MT" panose="02020503060305020303" pitchFamily="18" charset="0"/>
              </a:rPr>
              <a:t>GOWTHAM R</a:t>
            </a:r>
          </a:p>
          <a:p>
            <a:pPr algn="l"/>
            <a:r>
              <a:rPr lang="en-US" b="1" dirty="0">
                <a:latin typeface="Bell MT" panose="02020503060305020303" pitchFamily="18" charset="0"/>
              </a:rPr>
              <a:t>PRANAV VARSHAN A T</a:t>
            </a:r>
          </a:p>
          <a:p>
            <a:pPr algn="l"/>
            <a:r>
              <a:rPr lang="en-US" b="1" dirty="0">
                <a:latin typeface="Bell MT" panose="02020503060305020303" pitchFamily="18" charset="0"/>
              </a:rPr>
              <a:t>RAJADURAI P</a:t>
            </a:r>
          </a:p>
        </p:txBody>
      </p:sp>
      <p:sp>
        <p:nvSpPr>
          <p:cNvPr id="6" name="Subtitle 2">
            <a:extLst>
              <a:ext uri="{FF2B5EF4-FFF2-40B4-BE49-F238E27FC236}">
                <a16:creationId xmlns:a16="http://schemas.microsoft.com/office/drawing/2014/main" id="{85428D81-BBAA-42D7-CB8E-9BE3DABDE22E}"/>
              </a:ext>
            </a:extLst>
          </p:cNvPr>
          <p:cNvSpPr txBox="1">
            <a:spLocks/>
          </p:cNvSpPr>
          <p:nvPr/>
        </p:nvSpPr>
        <p:spPr>
          <a:xfrm>
            <a:off x="7043057" y="3037114"/>
            <a:ext cx="3766457" cy="105591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b="1" dirty="0">
                <a:latin typeface="Bell MT" panose="02020503060305020303" pitchFamily="18" charset="0"/>
                <a:cs typeface="Times New Roman" panose="02020603050405020304" pitchFamily="18" charset="0"/>
              </a:rPr>
              <a:t>Project Guide</a:t>
            </a:r>
          </a:p>
          <a:p>
            <a:pPr algn="l"/>
            <a:r>
              <a:rPr lang="en-US" b="1" dirty="0">
                <a:latin typeface="Bell MT" panose="02020503060305020303" pitchFamily="18" charset="0"/>
                <a:cs typeface="Times New Roman" panose="02020603050405020304" pitchFamily="18" charset="0"/>
              </a:rPr>
              <a:t>Dr. R. RAGUPATHY </a:t>
            </a:r>
          </a:p>
        </p:txBody>
      </p:sp>
    </p:spTree>
    <p:extLst>
      <p:ext uri="{BB962C8B-B14F-4D97-AF65-F5344CB8AC3E}">
        <p14:creationId xmlns:p14="http://schemas.microsoft.com/office/powerpoint/2010/main" val="1835559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A53E8-F4DE-CB59-A3A2-F488F8AC1AE0}"/>
              </a:ext>
            </a:extLst>
          </p:cNvPr>
          <p:cNvSpPr>
            <a:spLocks noGrp="1"/>
          </p:cNvSpPr>
          <p:nvPr>
            <p:ph type="title"/>
          </p:nvPr>
        </p:nvSpPr>
        <p:spPr>
          <a:xfrm>
            <a:off x="838200" y="365125"/>
            <a:ext cx="10515600" cy="1071789"/>
          </a:xfrm>
        </p:spPr>
        <p:txBody>
          <a:bodyPr/>
          <a:lstStyle/>
          <a:p>
            <a:r>
              <a:rPr lang="en-US" b="1" dirty="0">
                <a:latin typeface="Bell MT" panose="02020503060305020303" pitchFamily="18" charset="0"/>
              </a:rPr>
              <a:t>Abstract</a:t>
            </a:r>
          </a:p>
        </p:txBody>
      </p:sp>
      <p:sp>
        <p:nvSpPr>
          <p:cNvPr id="3" name="Content Placeholder 2">
            <a:extLst>
              <a:ext uri="{FF2B5EF4-FFF2-40B4-BE49-F238E27FC236}">
                <a16:creationId xmlns:a16="http://schemas.microsoft.com/office/drawing/2014/main" id="{ADB90B8C-765B-D7DC-1D09-34E96BD171D0}"/>
              </a:ext>
            </a:extLst>
          </p:cNvPr>
          <p:cNvSpPr>
            <a:spLocks noGrp="1"/>
          </p:cNvSpPr>
          <p:nvPr>
            <p:ph idx="1"/>
          </p:nvPr>
        </p:nvSpPr>
        <p:spPr>
          <a:xfrm>
            <a:off x="838200" y="1436914"/>
            <a:ext cx="10515600" cy="4740049"/>
          </a:xfrm>
        </p:spPr>
        <p:txBody>
          <a:bodyPr>
            <a:noAutofit/>
          </a:bodyPr>
          <a:lstStyle/>
          <a:p>
            <a:pPr marL="0" indent="0" algn="just">
              <a:lnSpc>
                <a:spcPct val="100000"/>
              </a:lnSpc>
              <a:buNone/>
            </a:pPr>
            <a:r>
              <a:rPr lang="en-US" sz="2400" dirty="0">
                <a:latin typeface="Bell MT" panose="02020503060305020303" pitchFamily="18" charset="0"/>
              </a:rPr>
              <a:t>The 2015 Nepal earthquake, a catastrophic 7.8 magnitude event, caused severe infrastructure damage and a tragic loss of life. This disaster underscored the urgent need for improved disaster management and preparedness. Predicting building damage levels post-earthquake is critical for effective response and resource allocation during such crises. This project utilizes deep learning models to predict damage levels to buildings using features such as structural details, building materials, and geographical information. By analyzing data from the 2015 Nepal earthquake, the project aims to understand patterns in building vulnerability. The insights generated will help authorities prioritize rescue operations and allocate resources efficiently. Additionally, the findings can guide urban planning to minimize risks in earthquake-prone areas. This work enhances disaster resilience and preparedness, ensuring safer communities and improving disaster response strategies for future seismic events.</a:t>
            </a:r>
          </a:p>
        </p:txBody>
      </p:sp>
    </p:spTree>
    <p:extLst>
      <p:ext uri="{BB962C8B-B14F-4D97-AF65-F5344CB8AC3E}">
        <p14:creationId xmlns:p14="http://schemas.microsoft.com/office/powerpoint/2010/main" val="2877688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7EA6C-64FA-532B-3FB2-290C1B9BD22A}"/>
              </a:ext>
            </a:extLst>
          </p:cNvPr>
          <p:cNvSpPr>
            <a:spLocks noGrp="1"/>
          </p:cNvSpPr>
          <p:nvPr>
            <p:ph type="title"/>
          </p:nvPr>
        </p:nvSpPr>
        <p:spPr>
          <a:xfrm>
            <a:off x="838200" y="365125"/>
            <a:ext cx="10515600" cy="1082675"/>
          </a:xfrm>
        </p:spPr>
        <p:txBody>
          <a:bodyPr/>
          <a:lstStyle/>
          <a:p>
            <a:r>
              <a:rPr lang="en-US" b="1" dirty="0">
                <a:latin typeface="Bell MT" panose="02020503060305020303" pitchFamily="18" charset="0"/>
              </a:rPr>
              <a:t>Objectives</a:t>
            </a:r>
          </a:p>
        </p:txBody>
      </p:sp>
      <p:sp>
        <p:nvSpPr>
          <p:cNvPr id="3" name="Content Placeholder 2">
            <a:extLst>
              <a:ext uri="{FF2B5EF4-FFF2-40B4-BE49-F238E27FC236}">
                <a16:creationId xmlns:a16="http://schemas.microsoft.com/office/drawing/2014/main" id="{FD1CEC01-624E-948B-9B7E-DBDEEE6AC6E1}"/>
              </a:ext>
            </a:extLst>
          </p:cNvPr>
          <p:cNvSpPr>
            <a:spLocks noGrp="1"/>
          </p:cNvSpPr>
          <p:nvPr>
            <p:ph idx="1"/>
          </p:nvPr>
        </p:nvSpPr>
        <p:spPr>
          <a:xfrm>
            <a:off x="1480457" y="2480243"/>
            <a:ext cx="9873343" cy="3735500"/>
          </a:xfrm>
        </p:spPr>
        <p:txBody>
          <a:bodyPr>
            <a:noAutofit/>
          </a:bodyPr>
          <a:lstStyle/>
          <a:p>
            <a:pPr algn="just">
              <a:lnSpc>
                <a:spcPct val="170000"/>
              </a:lnSpc>
            </a:pPr>
            <a:r>
              <a:rPr lang="en-US" sz="2100" b="1" dirty="0">
                <a:latin typeface="Bell MT" panose="02020503060305020303" pitchFamily="18" charset="0"/>
              </a:rPr>
              <a:t>Damage Assessment: </a:t>
            </a:r>
            <a:r>
              <a:rPr lang="en-US" sz="2100" dirty="0">
                <a:latin typeface="Bell MT" panose="02020503060305020303" pitchFamily="18" charset="0"/>
              </a:rPr>
              <a:t>Accurately estimate the extent of potential building damage following seismic events.</a:t>
            </a:r>
          </a:p>
          <a:p>
            <a:pPr algn="just">
              <a:lnSpc>
                <a:spcPct val="170000"/>
              </a:lnSpc>
            </a:pPr>
            <a:r>
              <a:rPr lang="en-US" sz="2100" b="1" dirty="0">
                <a:latin typeface="Bell MT" panose="02020503060305020303" pitchFamily="18" charset="0"/>
              </a:rPr>
              <a:t>Model Comparison: </a:t>
            </a:r>
            <a:r>
              <a:rPr lang="en-US" sz="2100" dirty="0">
                <a:latin typeface="Bell MT" panose="02020503060305020303" pitchFamily="18" charset="0"/>
              </a:rPr>
              <a:t>Evaluate and compare the performance of various deep learning models, including CNNs, LSTMs, and Transformers, on structured tabular data.</a:t>
            </a:r>
          </a:p>
          <a:p>
            <a:pPr algn="just">
              <a:lnSpc>
                <a:spcPct val="170000"/>
              </a:lnSpc>
            </a:pPr>
            <a:r>
              <a:rPr lang="en-US" sz="2100" b="1" dirty="0">
                <a:latin typeface="Bell MT" panose="02020503060305020303" pitchFamily="18" charset="0"/>
              </a:rPr>
              <a:t>Disaster Readiness: </a:t>
            </a:r>
            <a:r>
              <a:rPr lang="en-US" sz="2100" dirty="0">
                <a:latin typeface="Bell MT" panose="02020503060305020303" pitchFamily="18" charset="0"/>
              </a:rPr>
              <a:t>Improve disaster preparedness and risk management by offering actionable insights into infrastructure vulnerability.</a:t>
            </a:r>
          </a:p>
          <a:p>
            <a:pPr marL="0" indent="0" algn="just">
              <a:buNone/>
            </a:pPr>
            <a:endParaRPr lang="en-US" sz="2200" dirty="0">
              <a:latin typeface="Bell MT" panose="02020503060305020303" pitchFamily="18" charset="0"/>
            </a:endParaRPr>
          </a:p>
        </p:txBody>
      </p:sp>
      <p:sp>
        <p:nvSpPr>
          <p:cNvPr id="4" name="Content Placeholder 2">
            <a:extLst>
              <a:ext uri="{FF2B5EF4-FFF2-40B4-BE49-F238E27FC236}">
                <a16:creationId xmlns:a16="http://schemas.microsoft.com/office/drawing/2014/main" id="{66F3C79D-F888-A414-C3A0-F88DB621D670}"/>
              </a:ext>
            </a:extLst>
          </p:cNvPr>
          <p:cNvSpPr txBox="1">
            <a:spLocks/>
          </p:cNvSpPr>
          <p:nvPr/>
        </p:nvSpPr>
        <p:spPr>
          <a:xfrm>
            <a:off x="914400" y="1569244"/>
            <a:ext cx="10515600" cy="9109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500" dirty="0">
                <a:latin typeface="Bell MT" panose="02020503060305020303" pitchFamily="18" charset="0"/>
              </a:rPr>
              <a:t>Develop a robust and accurate predictive model for classifying building damage levels caused by earthquakes using advanced deep learning techniques.</a:t>
            </a:r>
          </a:p>
        </p:txBody>
      </p:sp>
    </p:spTree>
    <p:extLst>
      <p:ext uri="{BB962C8B-B14F-4D97-AF65-F5344CB8AC3E}">
        <p14:creationId xmlns:p14="http://schemas.microsoft.com/office/powerpoint/2010/main" val="709205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65370-71E3-C7CE-89CA-4493EE5B6D5A}"/>
              </a:ext>
            </a:extLst>
          </p:cNvPr>
          <p:cNvSpPr>
            <a:spLocks noGrp="1"/>
          </p:cNvSpPr>
          <p:nvPr>
            <p:ph type="title"/>
          </p:nvPr>
        </p:nvSpPr>
        <p:spPr/>
        <p:txBody>
          <a:bodyPr/>
          <a:lstStyle/>
          <a:p>
            <a:r>
              <a:rPr lang="en-US" b="1" dirty="0">
                <a:latin typeface="Bell MT" panose="02020503060305020303" pitchFamily="18" charset="0"/>
              </a:rPr>
              <a:t>Problem Statement</a:t>
            </a:r>
          </a:p>
        </p:txBody>
      </p:sp>
      <p:sp>
        <p:nvSpPr>
          <p:cNvPr id="3" name="Content Placeholder 2">
            <a:extLst>
              <a:ext uri="{FF2B5EF4-FFF2-40B4-BE49-F238E27FC236}">
                <a16:creationId xmlns:a16="http://schemas.microsoft.com/office/drawing/2014/main" id="{B5DC2F18-05B1-2C39-53AD-BB9866699CDB}"/>
              </a:ext>
            </a:extLst>
          </p:cNvPr>
          <p:cNvSpPr>
            <a:spLocks noGrp="1"/>
          </p:cNvSpPr>
          <p:nvPr>
            <p:ph idx="1"/>
          </p:nvPr>
        </p:nvSpPr>
        <p:spPr/>
        <p:txBody>
          <a:bodyPr>
            <a:normAutofit/>
          </a:bodyPr>
          <a:lstStyle/>
          <a:p>
            <a:pPr marL="0" indent="0" algn="just">
              <a:lnSpc>
                <a:spcPct val="150000"/>
              </a:lnSpc>
              <a:buNone/>
            </a:pPr>
            <a:r>
              <a:rPr lang="en-US" sz="2500" dirty="0">
                <a:latin typeface="Bell MT" panose="02020503060305020303" pitchFamily="18" charset="0"/>
              </a:rPr>
              <a:t>Predicting structural damage levels (low, medium, high) to buildings during earthquakes is critical for timely disaster response but challenging due to accessibility issues and data complexity. Traditional ML models struggle with high-dimensional, imbalanced datasets and often miss complex feature interactions. This project aims to build a scalable AI system using deep learning and transformer-based models to improve classification accuracy, especially for underrepresented severe damage cases.</a:t>
            </a:r>
          </a:p>
        </p:txBody>
      </p:sp>
    </p:spTree>
    <p:extLst>
      <p:ext uri="{BB962C8B-B14F-4D97-AF65-F5344CB8AC3E}">
        <p14:creationId xmlns:p14="http://schemas.microsoft.com/office/powerpoint/2010/main" val="3618355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043D5-2137-60E1-AC21-5DE03CA8E1E6}"/>
              </a:ext>
            </a:extLst>
          </p:cNvPr>
          <p:cNvSpPr>
            <a:spLocks noGrp="1"/>
          </p:cNvSpPr>
          <p:nvPr>
            <p:ph type="title"/>
          </p:nvPr>
        </p:nvSpPr>
        <p:spPr/>
        <p:txBody>
          <a:bodyPr/>
          <a:lstStyle/>
          <a:p>
            <a:r>
              <a:rPr lang="en-US" b="1" dirty="0">
                <a:latin typeface="Bell MT" panose="02020503060305020303" pitchFamily="18" charset="0"/>
              </a:rPr>
              <a:t>Significance of the Study</a:t>
            </a:r>
          </a:p>
        </p:txBody>
      </p:sp>
      <p:sp>
        <p:nvSpPr>
          <p:cNvPr id="3" name="Content Placeholder 2">
            <a:extLst>
              <a:ext uri="{FF2B5EF4-FFF2-40B4-BE49-F238E27FC236}">
                <a16:creationId xmlns:a16="http://schemas.microsoft.com/office/drawing/2014/main" id="{9F7587DD-D2A0-499C-DCB5-B952BC21DD76}"/>
              </a:ext>
            </a:extLst>
          </p:cNvPr>
          <p:cNvSpPr>
            <a:spLocks noGrp="1"/>
          </p:cNvSpPr>
          <p:nvPr>
            <p:ph idx="1"/>
          </p:nvPr>
        </p:nvSpPr>
        <p:spPr/>
        <p:txBody>
          <a:bodyPr/>
          <a:lstStyle/>
          <a:p>
            <a:pPr marL="0" indent="0">
              <a:lnSpc>
                <a:spcPct val="150000"/>
              </a:lnSpc>
              <a:buNone/>
            </a:pPr>
            <a:r>
              <a:rPr lang="en-US" b="1" dirty="0">
                <a:latin typeface="Bell MT" panose="02020503060305020303" pitchFamily="18" charset="0"/>
              </a:rPr>
              <a:t>Benefits for Disaster Management</a:t>
            </a:r>
          </a:p>
          <a:p>
            <a:pPr lvl="1" algn="just">
              <a:lnSpc>
                <a:spcPct val="150000"/>
              </a:lnSpc>
            </a:pPr>
            <a:r>
              <a:rPr lang="en-US" b="1" dirty="0">
                <a:latin typeface="Bell MT" panose="02020503060305020303" pitchFamily="18" charset="0"/>
              </a:rPr>
              <a:t>Rapid Response</a:t>
            </a:r>
            <a:r>
              <a:rPr lang="en-US" dirty="0">
                <a:latin typeface="Bell MT" panose="02020503060305020303" pitchFamily="18" charset="0"/>
              </a:rPr>
              <a:t>: Enables emergency services to identify high-risk zones and allocate resources more effectively.</a:t>
            </a:r>
          </a:p>
          <a:p>
            <a:pPr lvl="1" algn="just">
              <a:lnSpc>
                <a:spcPct val="150000"/>
              </a:lnSpc>
            </a:pPr>
            <a:r>
              <a:rPr lang="en-US" b="1" dirty="0">
                <a:latin typeface="Bell MT" panose="02020503060305020303" pitchFamily="18" charset="0"/>
              </a:rPr>
              <a:t>Early Warning Systems</a:t>
            </a:r>
            <a:r>
              <a:rPr lang="en-US" dirty="0">
                <a:latin typeface="Bell MT" panose="02020503060305020303" pitchFamily="18" charset="0"/>
              </a:rPr>
              <a:t>: Integrates with real-time data feeds to provide anticipatory insights before full-scale damage occurs.</a:t>
            </a:r>
          </a:p>
          <a:p>
            <a:pPr lvl="1" algn="just">
              <a:lnSpc>
                <a:spcPct val="150000"/>
              </a:lnSpc>
            </a:pPr>
            <a:r>
              <a:rPr lang="en-US" b="1" dirty="0">
                <a:latin typeface="Bell MT" panose="02020503060305020303" pitchFamily="18" charset="0"/>
              </a:rPr>
              <a:t>Post-Event Analysis</a:t>
            </a:r>
            <a:r>
              <a:rPr lang="en-US" dirty="0">
                <a:latin typeface="Bell MT" panose="02020503060305020303" pitchFamily="18" charset="0"/>
              </a:rPr>
              <a:t>: Assists in evaluating the effectiveness of existing infrastructure and response strategies after earthquakes.</a:t>
            </a:r>
          </a:p>
        </p:txBody>
      </p:sp>
    </p:spTree>
    <p:extLst>
      <p:ext uri="{BB962C8B-B14F-4D97-AF65-F5344CB8AC3E}">
        <p14:creationId xmlns:p14="http://schemas.microsoft.com/office/powerpoint/2010/main" val="90672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1AF9EA-6CB4-9BDD-FEAC-951B528E73EA}"/>
              </a:ext>
            </a:extLst>
          </p:cNvPr>
          <p:cNvSpPr>
            <a:spLocks noGrp="1"/>
          </p:cNvSpPr>
          <p:nvPr>
            <p:ph idx="1"/>
          </p:nvPr>
        </p:nvSpPr>
        <p:spPr>
          <a:xfrm>
            <a:off x="838200" y="881743"/>
            <a:ext cx="10515600" cy="5295220"/>
          </a:xfrm>
        </p:spPr>
        <p:txBody>
          <a:bodyPr/>
          <a:lstStyle/>
          <a:p>
            <a:pPr marL="0" indent="0">
              <a:lnSpc>
                <a:spcPct val="150000"/>
              </a:lnSpc>
              <a:buNone/>
            </a:pPr>
            <a:r>
              <a:rPr lang="en-US" sz="3200" b="1" dirty="0">
                <a:latin typeface="Bell MT" panose="02020503060305020303" pitchFamily="18" charset="0"/>
              </a:rPr>
              <a:t>Usefulness for Infrastructure Planning and Policy</a:t>
            </a:r>
          </a:p>
          <a:p>
            <a:pPr lvl="1" algn="just">
              <a:lnSpc>
                <a:spcPct val="150000"/>
              </a:lnSpc>
            </a:pPr>
            <a:r>
              <a:rPr lang="en-US" sz="2500" b="1" dirty="0">
                <a:latin typeface="Bell MT" panose="02020503060305020303" pitchFamily="18" charset="0"/>
              </a:rPr>
              <a:t>Risk-Aware Urban Planning</a:t>
            </a:r>
            <a:r>
              <a:rPr lang="en-US" sz="2500" dirty="0">
                <a:latin typeface="Bell MT" panose="02020503060305020303" pitchFamily="18" charset="0"/>
              </a:rPr>
              <a:t>: Supports the development of zoning laws and construction codes based on predicted damage risk.</a:t>
            </a:r>
          </a:p>
          <a:p>
            <a:pPr lvl="1" algn="just">
              <a:lnSpc>
                <a:spcPct val="150000"/>
              </a:lnSpc>
            </a:pPr>
            <a:r>
              <a:rPr lang="en-US" sz="2500" b="1" dirty="0">
                <a:latin typeface="Bell MT" panose="02020503060305020303" pitchFamily="18" charset="0"/>
              </a:rPr>
              <a:t>Policy Formulation</a:t>
            </a:r>
            <a:r>
              <a:rPr lang="en-US" sz="2500" dirty="0">
                <a:latin typeface="Bell MT" panose="02020503060305020303" pitchFamily="18" charset="0"/>
              </a:rPr>
              <a:t>: Provides evidence-based insights to inform disaster mitigation policies at regional and national levels.</a:t>
            </a:r>
          </a:p>
          <a:p>
            <a:pPr lvl="1" algn="just">
              <a:lnSpc>
                <a:spcPct val="150000"/>
              </a:lnSpc>
            </a:pPr>
            <a:r>
              <a:rPr lang="en-US" sz="2500" b="1" dirty="0">
                <a:latin typeface="Bell MT" panose="02020503060305020303" pitchFamily="18" charset="0"/>
              </a:rPr>
              <a:t>Investment Prioritization</a:t>
            </a:r>
            <a:r>
              <a:rPr lang="en-US" sz="2500" dirty="0">
                <a:latin typeface="Bell MT" panose="02020503060305020303" pitchFamily="18" charset="0"/>
              </a:rPr>
              <a:t>: Helps identify critical areas requiring retrofitting or reconstruction investments to improve resilience.</a:t>
            </a:r>
          </a:p>
        </p:txBody>
      </p:sp>
    </p:spTree>
    <p:extLst>
      <p:ext uri="{BB962C8B-B14F-4D97-AF65-F5344CB8AC3E}">
        <p14:creationId xmlns:p14="http://schemas.microsoft.com/office/powerpoint/2010/main" val="3560189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5DE43-B8C0-AA18-8CCD-F86465D26E3B}"/>
              </a:ext>
            </a:extLst>
          </p:cNvPr>
          <p:cNvSpPr>
            <a:spLocks noGrp="1"/>
          </p:cNvSpPr>
          <p:nvPr>
            <p:ph type="title"/>
          </p:nvPr>
        </p:nvSpPr>
        <p:spPr>
          <a:xfrm>
            <a:off x="838200" y="365126"/>
            <a:ext cx="10515600" cy="897618"/>
          </a:xfrm>
        </p:spPr>
        <p:txBody>
          <a:bodyPr/>
          <a:lstStyle/>
          <a:p>
            <a:r>
              <a:rPr lang="en-US" b="1" dirty="0">
                <a:latin typeface="Bell MT" panose="02020503060305020303" pitchFamily="18" charset="0"/>
              </a:rPr>
              <a:t>Literature Review - Overview</a:t>
            </a:r>
          </a:p>
        </p:txBody>
      </p:sp>
      <p:sp>
        <p:nvSpPr>
          <p:cNvPr id="3" name="Content Placeholder 2">
            <a:extLst>
              <a:ext uri="{FF2B5EF4-FFF2-40B4-BE49-F238E27FC236}">
                <a16:creationId xmlns:a16="http://schemas.microsoft.com/office/drawing/2014/main" id="{21A6A7C2-B7A7-BE93-AB84-BA4D7920992D}"/>
              </a:ext>
            </a:extLst>
          </p:cNvPr>
          <p:cNvSpPr>
            <a:spLocks noGrp="1"/>
          </p:cNvSpPr>
          <p:nvPr>
            <p:ph idx="1"/>
          </p:nvPr>
        </p:nvSpPr>
        <p:spPr>
          <a:xfrm>
            <a:off x="838200" y="1404256"/>
            <a:ext cx="10515600" cy="5088617"/>
          </a:xfrm>
        </p:spPr>
        <p:txBody>
          <a:bodyPr>
            <a:normAutofit fontScale="92500" lnSpcReduction="20000"/>
          </a:bodyPr>
          <a:lstStyle/>
          <a:p>
            <a:pPr marL="0" indent="0">
              <a:lnSpc>
                <a:spcPct val="150000"/>
              </a:lnSpc>
              <a:buNone/>
            </a:pPr>
            <a:r>
              <a:rPr lang="en-US" sz="3300" b="1" dirty="0">
                <a:latin typeface="Bell MT" panose="02020503060305020303" pitchFamily="18" charset="0"/>
              </a:rPr>
              <a:t>Evolution from Traditional Models to AI/ML</a:t>
            </a:r>
          </a:p>
          <a:p>
            <a:pPr lvl="1" algn="just">
              <a:lnSpc>
                <a:spcPct val="150000"/>
              </a:lnSpc>
            </a:pPr>
            <a:r>
              <a:rPr lang="en-US" sz="2700" dirty="0">
                <a:latin typeface="Bell MT" panose="02020503060305020303" pitchFamily="18" charset="0"/>
              </a:rPr>
              <a:t>Early approaches relied on </a:t>
            </a:r>
            <a:r>
              <a:rPr lang="en-US" sz="2700" b="1" dirty="0">
                <a:latin typeface="Bell MT" panose="02020503060305020303" pitchFamily="18" charset="0"/>
              </a:rPr>
              <a:t>empirical formulas</a:t>
            </a:r>
            <a:r>
              <a:rPr lang="en-US" sz="2700" dirty="0">
                <a:latin typeface="Bell MT" panose="02020503060305020303" pitchFamily="18" charset="0"/>
              </a:rPr>
              <a:t>, </a:t>
            </a:r>
            <a:r>
              <a:rPr lang="en-US" sz="2700" b="1" dirty="0">
                <a:latin typeface="Bell MT" panose="02020503060305020303" pitchFamily="18" charset="0"/>
              </a:rPr>
              <a:t>engineering judgment</a:t>
            </a:r>
            <a:r>
              <a:rPr lang="en-US" sz="2700" dirty="0">
                <a:latin typeface="Bell MT" panose="02020503060305020303" pitchFamily="18" charset="0"/>
              </a:rPr>
              <a:t>, and </a:t>
            </a:r>
            <a:r>
              <a:rPr lang="en-US" sz="2700" b="1" dirty="0">
                <a:latin typeface="Bell MT" panose="02020503060305020303" pitchFamily="18" charset="0"/>
              </a:rPr>
              <a:t>seismic codes</a:t>
            </a:r>
            <a:r>
              <a:rPr lang="en-US" sz="2700" dirty="0">
                <a:latin typeface="Bell MT" panose="02020503060305020303" pitchFamily="18" charset="0"/>
              </a:rPr>
              <a:t> for estimating damage.</a:t>
            </a:r>
          </a:p>
          <a:p>
            <a:pPr lvl="1" algn="just">
              <a:lnSpc>
                <a:spcPct val="150000"/>
              </a:lnSpc>
            </a:pPr>
            <a:r>
              <a:rPr lang="en-US" sz="2700" dirty="0">
                <a:latin typeface="Bell MT" panose="02020503060305020303" pitchFamily="18" charset="0"/>
              </a:rPr>
              <a:t>These methods lacked adaptability to varied structural types and local conditions.</a:t>
            </a:r>
          </a:p>
          <a:p>
            <a:pPr lvl="1" algn="just">
              <a:lnSpc>
                <a:spcPct val="150000"/>
              </a:lnSpc>
            </a:pPr>
            <a:r>
              <a:rPr lang="en-US" sz="2700" dirty="0">
                <a:latin typeface="Bell MT" panose="02020503060305020303" pitchFamily="18" charset="0"/>
              </a:rPr>
              <a:t>With increasing data availability, </a:t>
            </a:r>
            <a:r>
              <a:rPr lang="en-US" sz="2700" b="1" dirty="0">
                <a:latin typeface="Bell MT" panose="02020503060305020303" pitchFamily="18" charset="0"/>
              </a:rPr>
              <a:t>AI and ML models</a:t>
            </a:r>
            <a:r>
              <a:rPr lang="en-US" sz="2700" dirty="0">
                <a:latin typeface="Bell MT" panose="02020503060305020303" pitchFamily="18" charset="0"/>
              </a:rPr>
              <a:t> began replacing rigid formulas with data-driven predictions.</a:t>
            </a:r>
          </a:p>
          <a:p>
            <a:pPr lvl="1" algn="just">
              <a:lnSpc>
                <a:spcPct val="150000"/>
              </a:lnSpc>
            </a:pPr>
            <a:r>
              <a:rPr lang="en-US" sz="2700" b="1" dirty="0">
                <a:latin typeface="Bell MT" panose="02020503060305020303" pitchFamily="18" charset="0"/>
              </a:rPr>
              <a:t>Deep learning models</a:t>
            </a:r>
            <a:r>
              <a:rPr lang="en-US" sz="2700" dirty="0">
                <a:latin typeface="Bell MT" panose="02020503060305020303" pitchFamily="18" charset="0"/>
              </a:rPr>
              <a:t> emerged as powerful tools for capturing complex, nonlinear relationships in high-dimensional data.</a:t>
            </a:r>
          </a:p>
        </p:txBody>
      </p:sp>
    </p:spTree>
    <p:extLst>
      <p:ext uri="{BB962C8B-B14F-4D97-AF65-F5344CB8AC3E}">
        <p14:creationId xmlns:p14="http://schemas.microsoft.com/office/powerpoint/2010/main" val="73059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8B7D58-4B04-C267-E7F8-98DC5ED32EB6}"/>
              </a:ext>
            </a:extLst>
          </p:cNvPr>
          <p:cNvSpPr>
            <a:spLocks noGrp="1"/>
          </p:cNvSpPr>
          <p:nvPr>
            <p:ph idx="1"/>
          </p:nvPr>
        </p:nvSpPr>
        <p:spPr>
          <a:xfrm>
            <a:off x="838200" y="649968"/>
            <a:ext cx="10515600" cy="4351338"/>
          </a:xfrm>
        </p:spPr>
        <p:txBody>
          <a:bodyPr>
            <a:normAutofit/>
          </a:bodyPr>
          <a:lstStyle/>
          <a:p>
            <a:pPr marL="0" indent="0">
              <a:lnSpc>
                <a:spcPct val="150000"/>
              </a:lnSpc>
              <a:buNone/>
            </a:pPr>
            <a:r>
              <a:rPr lang="en-US" sz="3200" b="1" dirty="0">
                <a:latin typeface="Bell MT" panose="02020503060305020303" pitchFamily="18" charset="0"/>
              </a:rPr>
              <a:t>General Trends in Previous Research</a:t>
            </a:r>
          </a:p>
          <a:p>
            <a:pPr lvl="1" algn="just">
              <a:lnSpc>
                <a:spcPct val="150000"/>
              </a:lnSpc>
            </a:pPr>
            <a:r>
              <a:rPr lang="en-US" sz="2500" dirty="0">
                <a:latin typeface="Bell MT" panose="02020503060305020303" pitchFamily="18" charset="0"/>
              </a:rPr>
              <a:t>Shift from </a:t>
            </a:r>
            <a:r>
              <a:rPr lang="en-US" sz="2500" b="1" dirty="0">
                <a:latin typeface="Bell MT" panose="02020503060305020303" pitchFamily="18" charset="0"/>
              </a:rPr>
              <a:t>hand-crafted features</a:t>
            </a:r>
            <a:r>
              <a:rPr lang="en-US" sz="2500" dirty="0">
                <a:latin typeface="Bell MT" panose="02020503060305020303" pitchFamily="18" charset="0"/>
              </a:rPr>
              <a:t> to automated </a:t>
            </a:r>
            <a:r>
              <a:rPr lang="en-US" sz="2500" b="1" dirty="0">
                <a:latin typeface="Bell MT" panose="02020503060305020303" pitchFamily="18" charset="0"/>
              </a:rPr>
              <a:t>feature learning</a:t>
            </a:r>
            <a:r>
              <a:rPr lang="en-US" sz="2500" dirty="0">
                <a:latin typeface="Bell MT" panose="02020503060305020303" pitchFamily="18" charset="0"/>
              </a:rPr>
              <a:t>.</a:t>
            </a:r>
          </a:p>
          <a:p>
            <a:pPr lvl="1" algn="just">
              <a:lnSpc>
                <a:spcPct val="150000"/>
              </a:lnSpc>
            </a:pPr>
            <a:r>
              <a:rPr lang="en-US" sz="2500" dirty="0">
                <a:latin typeface="Bell MT" panose="02020503060305020303" pitchFamily="18" charset="0"/>
              </a:rPr>
              <a:t>Use of </a:t>
            </a:r>
            <a:r>
              <a:rPr lang="en-US" sz="2500" b="1" dirty="0">
                <a:latin typeface="Bell MT" panose="02020503060305020303" pitchFamily="18" charset="0"/>
              </a:rPr>
              <a:t>structured datasets</a:t>
            </a:r>
            <a:r>
              <a:rPr lang="en-US" sz="2500" dirty="0">
                <a:latin typeface="Bell MT" panose="02020503060305020303" pitchFamily="18" charset="0"/>
              </a:rPr>
              <a:t> (e.g., building materials, location, height) to train classification models.</a:t>
            </a:r>
          </a:p>
          <a:p>
            <a:pPr lvl="1" algn="just">
              <a:lnSpc>
                <a:spcPct val="150000"/>
              </a:lnSpc>
            </a:pPr>
            <a:r>
              <a:rPr lang="en-US" sz="2500" dirty="0">
                <a:latin typeface="Bell MT" panose="02020503060305020303" pitchFamily="18" charset="0"/>
              </a:rPr>
              <a:t>Growing interest in comparing traditional ML vs DL approaches.</a:t>
            </a:r>
          </a:p>
          <a:p>
            <a:pPr lvl="1" algn="just">
              <a:lnSpc>
                <a:spcPct val="150000"/>
              </a:lnSpc>
            </a:pPr>
            <a:r>
              <a:rPr lang="en-US" sz="2500" dirty="0">
                <a:latin typeface="Bell MT" panose="02020503060305020303" pitchFamily="18" charset="0"/>
              </a:rPr>
              <a:t>Focus on increasing </a:t>
            </a:r>
            <a:r>
              <a:rPr lang="en-US" sz="2500" b="1" dirty="0">
                <a:latin typeface="Bell MT" panose="02020503060305020303" pitchFamily="18" charset="0"/>
              </a:rPr>
              <a:t>model accuracy</a:t>
            </a:r>
            <a:r>
              <a:rPr lang="en-US" sz="2500" dirty="0">
                <a:latin typeface="Bell MT" panose="02020503060305020303" pitchFamily="18" charset="0"/>
              </a:rPr>
              <a:t>, </a:t>
            </a:r>
            <a:r>
              <a:rPr lang="en-US" sz="2500" b="1" dirty="0">
                <a:latin typeface="Bell MT" panose="02020503060305020303" pitchFamily="18" charset="0"/>
              </a:rPr>
              <a:t>scalability</a:t>
            </a:r>
            <a:r>
              <a:rPr lang="en-US" sz="2500" dirty="0">
                <a:latin typeface="Bell MT" panose="02020503060305020303" pitchFamily="18" charset="0"/>
              </a:rPr>
              <a:t>, and </a:t>
            </a:r>
            <a:r>
              <a:rPr lang="en-US" sz="2500" b="1" dirty="0">
                <a:latin typeface="Bell MT" panose="02020503060305020303" pitchFamily="18" charset="0"/>
              </a:rPr>
              <a:t>generalization</a:t>
            </a:r>
            <a:r>
              <a:rPr lang="en-US" sz="2500" dirty="0">
                <a:latin typeface="Bell MT" panose="02020503060305020303" pitchFamily="18" charset="0"/>
              </a:rPr>
              <a:t>.</a:t>
            </a:r>
          </a:p>
        </p:txBody>
      </p:sp>
    </p:spTree>
    <p:extLst>
      <p:ext uri="{BB962C8B-B14F-4D97-AF65-F5344CB8AC3E}">
        <p14:creationId xmlns:p14="http://schemas.microsoft.com/office/powerpoint/2010/main" val="2548282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B3765-EDFA-90A9-E7C6-2B1A98FC0638}"/>
              </a:ext>
            </a:extLst>
          </p:cNvPr>
          <p:cNvSpPr>
            <a:spLocks noGrp="1"/>
          </p:cNvSpPr>
          <p:nvPr>
            <p:ph type="title"/>
          </p:nvPr>
        </p:nvSpPr>
        <p:spPr/>
        <p:txBody>
          <a:bodyPr/>
          <a:lstStyle/>
          <a:p>
            <a:r>
              <a:rPr lang="en-US" b="1" dirty="0">
                <a:latin typeface="Bell MT" panose="02020503060305020303" pitchFamily="18" charset="0"/>
              </a:rPr>
              <a:t>Literature Review – Machine Learning Approaches</a:t>
            </a:r>
          </a:p>
        </p:txBody>
      </p:sp>
      <p:sp>
        <p:nvSpPr>
          <p:cNvPr id="3" name="Content Placeholder 2">
            <a:extLst>
              <a:ext uri="{FF2B5EF4-FFF2-40B4-BE49-F238E27FC236}">
                <a16:creationId xmlns:a16="http://schemas.microsoft.com/office/drawing/2014/main" id="{160F4DA2-ECF7-598F-47EC-DA38985475BB}"/>
              </a:ext>
            </a:extLst>
          </p:cNvPr>
          <p:cNvSpPr>
            <a:spLocks noGrp="1"/>
          </p:cNvSpPr>
          <p:nvPr>
            <p:ph idx="1"/>
          </p:nvPr>
        </p:nvSpPr>
        <p:spPr>
          <a:xfrm>
            <a:off x="838200" y="1825624"/>
            <a:ext cx="10515600" cy="4488089"/>
          </a:xfrm>
        </p:spPr>
        <p:txBody>
          <a:bodyPr>
            <a:normAutofit fontScale="92500" lnSpcReduction="20000"/>
          </a:bodyPr>
          <a:lstStyle/>
          <a:p>
            <a:pPr marL="0" indent="0">
              <a:lnSpc>
                <a:spcPct val="150000"/>
              </a:lnSpc>
              <a:buNone/>
            </a:pPr>
            <a:r>
              <a:rPr lang="en-US" b="1" dirty="0">
                <a:latin typeface="Bell MT" panose="02020503060305020303" pitchFamily="18" charset="0"/>
              </a:rPr>
              <a:t>Common ML Models Used</a:t>
            </a:r>
          </a:p>
          <a:p>
            <a:pPr lvl="1" algn="just">
              <a:lnSpc>
                <a:spcPct val="150000"/>
              </a:lnSpc>
            </a:pPr>
            <a:r>
              <a:rPr lang="en-US" sz="2700" b="1" dirty="0">
                <a:latin typeface="Bell MT" panose="02020503060305020303" pitchFamily="18" charset="0"/>
              </a:rPr>
              <a:t>Random Forest (RF)</a:t>
            </a:r>
            <a:r>
              <a:rPr lang="en-US" sz="2700" dirty="0">
                <a:latin typeface="Bell MT" panose="02020503060305020303" pitchFamily="18" charset="0"/>
              </a:rPr>
              <a:t>: Popular due to robustness and interpretability.</a:t>
            </a:r>
          </a:p>
          <a:p>
            <a:pPr lvl="1" algn="just">
              <a:lnSpc>
                <a:spcPct val="150000"/>
              </a:lnSpc>
            </a:pPr>
            <a:r>
              <a:rPr lang="en-US" sz="2700" b="1" dirty="0">
                <a:latin typeface="Bell MT" panose="02020503060305020303" pitchFamily="18" charset="0"/>
              </a:rPr>
              <a:t>Support Vector Machines (SVM): </a:t>
            </a:r>
            <a:r>
              <a:rPr lang="en-US" sz="2700" dirty="0">
                <a:latin typeface="Bell MT" panose="02020503060305020303" pitchFamily="18" charset="0"/>
              </a:rPr>
              <a:t>Effect for high-dimensional classification.</a:t>
            </a:r>
          </a:p>
          <a:p>
            <a:pPr lvl="1" algn="just">
              <a:lnSpc>
                <a:spcPct val="150000"/>
              </a:lnSpc>
            </a:pPr>
            <a:r>
              <a:rPr lang="en-US" sz="2700" b="1" dirty="0">
                <a:latin typeface="Bell MT" panose="02020503060305020303" pitchFamily="18" charset="0"/>
              </a:rPr>
              <a:t>Gradient Boosting Machines (</a:t>
            </a:r>
            <a:r>
              <a:rPr lang="en-US" sz="2700" b="1" dirty="0" err="1">
                <a:latin typeface="Bell MT" panose="02020503060305020303" pitchFamily="18" charset="0"/>
              </a:rPr>
              <a:t>XGBoost</a:t>
            </a:r>
            <a:r>
              <a:rPr lang="en-US" sz="2700" b="1" dirty="0">
                <a:latin typeface="Bell MT" panose="02020503060305020303" pitchFamily="18" charset="0"/>
              </a:rPr>
              <a:t>, </a:t>
            </a:r>
            <a:r>
              <a:rPr lang="en-US" sz="2700" b="1" dirty="0" err="1">
                <a:latin typeface="Bell MT" panose="02020503060305020303" pitchFamily="18" charset="0"/>
              </a:rPr>
              <a:t>LightGBM</a:t>
            </a:r>
            <a:r>
              <a:rPr lang="en-US" sz="2700" b="1" dirty="0">
                <a:latin typeface="Bell MT" panose="02020503060305020303" pitchFamily="18" charset="0"/>
              </a:rPr>
              <a:t>): </a:t>
            </a:r>
            <a:r>
              <a:rPr lang="en-US" sz="2700" dirty="0">
                <a:latin typeface="Bell MT" panose="02020503060305020303" pitchFamily="18" charset="0"/>
              </a:rPr>
              <a:t>Known for strong performance on tabular data.</a:t>
            </a:r>
          </a:p>
          <a:p>
            <a:pPr lvl="1" algn="just">
              <a:lnSpc>
                <a:spcPct val="150000"/>
              </a:lnSpc>
            </a:pPr>
            <a:r>
              <a:rPr lang="en-US" sz="2700" b="1" dirty="0">
                <a:latin typeface="Bell MT" panose="02020503060305020303" pitchFamily="18" charset="0"/>
              </a:rPr>
              <a:t>K-Nearest </a:t>
            </a:r>
            <a:r>
              <a:rPr lang="en-US" sz="2700" b="1" dirty="0" err="1">
                <a:latin typeface="Bell MT" panose="02020503060305020303" pitchFamily="18" charset="0"/>
              </a:rPr>
              <a:t>Neighbore</a:t>
            </a:r>
            <a:r>
              <a:rPr lang="en-US" sz="2700" b="1" dirty="0">
                <a:latin typeface="Bell MT" panose="02020503060305020303" pitchFamily="18" charset="0"/>
              </a:rPr>
              <a:t> (</a:t>
            </a:r>
            <a:r>
              <a:rPr lang="en-US" sz="2700" b="1" dirty="0" err="1">
                <a:latin typeface="Bell MT" panose="02020503060305020303" pitchFamily="18" charset="0"/>
              </a:rPr>
              <a:t>kNN</a:t>
            </a:r>
            <a:r>
              <a:rPr lang="en-US" sz="2700" b="1" dirty="0">
                <a:latin typeface="Bell MT" panose="02020503060305020303" pitchFamily="18" charset="0"/>
              </a:rPr>
              <a:t>) </a:t>
            </a:r>
            <a:r>
              <a:rPr lang="en-US" sz="2700" dirty="0">
                <a:latin typeface="Bell MT" panose="02020503060305020303" pitchFamily="18" charset="0"/>
              </a:rPr>
              <a:t>and</a:t>
            </a:r>
            <a:r>
              <a:rPr lang="en-US" sz="2700" b="1" dirty="0">
                <a:latin typeface="Bell MT" panose="02020503060305020303" pitchFamily="18" charset="0"/>
              </a:rPr>
              <a:t> Logistic Regression </a:t>
            </a:r>
            <a:r>
              <a:rPr lang="en-US" sz="2700" dirty="0">
                <a:latin typeface="Bell MT" panose="02020503060305020303" pitchFamily="18" charset="0"/>
              </a:rPr>
              <a:t>used in early-stage studies.</a:t>
            </a:r>
          </a:p>
        </p:txBody>
      </p:sp>
    </p:spTree>
    <p:extLst>
      <p:ext uri="{BB962C8B-B14F-4D97-AF65-F5344CB8AC3E}">
        <p14:creationId xmlns:p14="http://schemas.microsoft.com/office/powerpoint/2010/main" val="1114509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B5335D-D89A-0FA4-C545-15E571819736}"/>
              </a:ext>
            </a:extLst>
          </p:cNvPr>
          <p:cNvSpPr>
            <a:spLocks noGrp="1"/>
          </p:cNvSpPr>
          <p:nvPr>
            <p:ph idx="1"/>
          </p:nvPr>
        </p:nvSpPr>
        <p:spPr>
          <a:xfrm>
            <a:off x="751115" y="671740"/>
            <a:ext cx="10515600" cy="4444546"/>
          </a:xfrm>
        </p:spPr>
        <p:txBody>
          <a:bodyPr>
            <a:normAutofit/>
          </a:bodyPr>
          <a:lstStyle/>
          <a:p>
            <a:pPr marL="0" indent="0">
              <a:lnSpc>
                <a:spcPct val="150000"/>
              </a:lnSpc>
              <a:buNone/>
            </a:pPr>
            <a:r>
              <a:rPr lang="en-US" sz="3200" b="1" dirty="0">
                <a:latin typeface="Bell MT" panose="02020503060305020303" pitchFamily="18" charset="0"/>
              </a:rPr>
              <a:t>Limitations of ML Approaches</a:t>
            </a:r>
          </a:p>
          <a:p>
            <a:pPr lvl="1" algn="just">
              <a:lnSpc>
                <a:spcPct val="150000"/>
              </a:lnSpc>
            </a:pPr>
            <a:r>
              <a:rPr lang="en-US" sz="2500" dirty="0">
                <a:latin typeface="Bell MT" panose="02020503060305020303" pitchFamily="18" charset="0"/>
              </a:rPr>
              <a:t>Struggle with learning </a:t>
            </a:r>
            <a:r>
              <a:rPr lang="en-US" sz="2500" b="1" dirty="0">
                <a:latin typeface="Bell MT" panose="02020503060305020303" pitchFamily="18" charset="0"/>
              </a:rPr>
              <a:t>temporal</a:t>
            </a:r>
            <a:r>
              <a:rPr lang="en-US" sz="2500" dirty="0">
                <a:latin typeface="Bell MT" panose="02020503060305020303" pitchFamily="18" charset="0"/>
              </a:rPr>
              <a:t> or </a:t>
            </a:r>
            <a:r>
              <a:rPr lang="en-US" sz="2500" b="1" dirty="0">
                <a:latin typeface="Bell MT" panose="02020503060305020303" pitchFamily="18" charset="0"/>
              </a:rPr>
              <a:t>hierarchical patterns</a:t>
            </a:r>
            <a:r>
              <a:rPr lang="en-US" sz="2500" dirty="0">
                <a:latin typeface="Bell MT" panose="02020503060305020303" pitchFamily="18" charset="0"/>
              </a:rPr>
              <a:t>.</a:t>
            </a:r>
          </a:p>
          <a:p>
            <a:pPr lvl="1" algn="just">
              <a:lnSpc>
                <a:spcPct val="150000"/>
              </a:lnSpc>
            </a:pPr>
            <a:r>
              <a:rPr lang="en-US" sz="2500" dirty="0">
                <a:latin typeface="Bell MT" panose="02020503060305020303" pitchFamily="18" charset="0"/>
              </a:rPr>
              <a:t>Require extensive </a:t>
            </a:r>
            <a:r>
              <a:rPr lang="en-US" sz="2500" b="1" dirty="0">
                <a:latin typeface="Bell MT" panose="02020503060305020303" pitchFamily="18" charset="0"/>
              </a:rPr>
              <a:t>feature engineering</a:t>
            </a:r>
            <a:r>
              <a:rPr lang="en-US" sz="2500" dirty="0">
                <a:latin typeface="Bell MT" panose="02020503060305020303" pitchFamily="18" charset="0"/>
              </a:rPr>
              <a:t>.</a:t>
            </a:r>
          </a:p>
          <a:p>
            <a:pPr lvl="1" algn="just">
              <a:lnSpc>
                <a:spcPct val="150000"/>
              </a:lnSpc>
            </a:pPr>
            <a:r>
              <a:rPr lang="en-US" sz="2500" dirty="0">
                <a:latin typeface="Bell MT" panose="02020503060305020303" pitchFamily="18" charset="0"/>
              </a:rPr>
              <a:t>Often </a:t>
            </a:r>
            <a:r>
              <a:rPr lang="en-US" sz="2500" b="1" dirty="0">
                <a:latin typeface="Bell MT" panose="02020503060305020303" pitchFamily="18" charset="0"/>
              </a:rPr>
              <a:t>overfit</a:t>
            </a:r>
            <a:r>
              <a:rPr lang="en-US" sz="2500" dirty="0">
                <a:latin typeface="Bell MT" panose="02020503060305020303" pitchFamily="18" charset="0"/>
              </a:rPr>
              <a:t> small or imbalanced datasets.</a:t>
            </a:r>
          </a:p>
          <a:p>
            <a:pPr lvl="1" algn="just">
              <a:lnSpc>
                <a:spcPct val="150000"/>
              </a:lnSpc>
            </a:pPr>
            <a:r>
              <a:rPr lang="en-US" sz="2500" dirty="0">
                <a:latin typeface="Bell MT" panose="02020503060305020303" pitchFamily="18" charset="0"/>
              </a:rPr>
              <a:t>Performance can plateau compared to deep learning models on complex tasks.</a:t>
            </a:r>
          </a:p>
        </p:txBody>
      </p:sp>
    </p:spTree>
    <p:extLst>
      <p:ext uri="{BB962C8B-B14F-4D97-AF65-F5344CB8AC3E}">
        <p14:creationId xmlns:p14="http://schemas.microsoft.com/office/powerpoint/2010/main" val="2397009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C4ADC-7AAC-612C-F283-615703CC5E1D}"/>
              </a:ext>
            </a:extLst>
          </p:cNvPr>
          <p:cNvSpPr>
            <a:spLocks noGrp="1"/>
          </p:cNvSpPr>
          <p:nvPr>
            <p:ph type="title"/>
          </p:nvPr>
        </p:nvSpPr>
        <p:spPr/>
        <p:txBody>
          <a:bodyPr/>
          <a:lstStyle/>
          <a:p>
            <a:r>
              <a:rPr lang="en-US" b="1" dirty="0">
                <a:latin typeface="Bell MT" panose="02020503060305020303" pitchFamily="18" charset="0"/>
              </a:rPr>
              <a:t>Methodology – Overview</a:t>
            </a:r>
          </a:p>
        </p:txBody>
      </p:sp>
      <p:pic>
        <p:nvPicPr>
          <p:cNvPr id="5" name="Content Placeholder 4">
            <a:extLst>
              <a:ext uri="{FF2B5EF4-FFF2-40B4-BE49-F238E27FC236}">
                <a16:creationId xmlns:a16="http://schemas.microsoft.com/office/drawing/2014/main" id="{B53D1F71-480C-65FA-48C3-EA6BDA76E9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83229" y="1690688"/>
            <a:ext cx="9329056" cy="4209369"/>
          </a:xfrm>
        </p:spPr>
      </p:pic>
    </p:spTree>
    <p:extLst>
      <p:ext uri="{BB962C8B-B14F-4D97-AF65-F5344CB8AC3E}">
        <p14:creationId xmlns:p14="http://schemas.microsoft.com/office/powerpoint/2010/main" val="7883815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4E1EA-0FCE-37F1-0AB1-798B316AC4AF}"/>
              </a:ext>
            </a:extLst>
          </p:cNvPr>
          <p:cNvSpPr>
            <a:spLocks noGrp="1"/>
          </p:cNvSpPr>
          <p:nvPr>
            <p:ph type="title"/>
          </p:nvPr>
        </p:nvSpPr>
        <p:spPr/>
        <p:txBody>
          <a:bodyPr/>
          <a:lstStyle/>
          <a:p>
            <a:r>
              <a:rPr lang="en-US" b="1" dirty="0">
                <a:latin typeface="Bell MT" panose="02020503060305020303" pitchFamily="18" charset="0"/>
              </a:rPr>
              <a:t>Data Collection</a:t>
            </a:r>
          </a:p>
        </p:txBody>
      </p:sp>
      <p:sp>
        <p:nvSpPr>
          <p:cNvPr id="3" name="Content Placeholder 2">
            <a:extLst>
              <a:ext uri="{FF2B5EF4-FFF2-40B4-BE49-F238E27FC236}">
                <a16:creationId xmlns:a16="http://schemas.microsoft.com/office/drawing/2014/main" id="{DD150AF7-0322-9186-3387-E7A49FDC2A14}"/>
              </a:ext>
            </a:extLst>
          </p:cNvPr>
          <p:cNvSpPr>
            <a:spLocks noGrp="1"/>
          </p:cNvSpPr>
          <p:nvPr>
            <p:ph idx="1"/>
          </p:nvPr>
        </p:nvSpPr>
        <p:spPr/>
        <p:txBody>
          <a:bodyPr>
            <a:normAutofit/>
          </a:bodyPr>
          <a:lstStyle/>
          <a:p>
            <a:pPr lvl="1" algn="just">
              <a:lnSpc>
                <a:spcPct val="150000"/>
              </a:lnSpc>
            </a:pPr>
            <a:r>
              <a:rPr lang="en-US" sz="2500" dirty="0">
                <a:latin typeface="Bell MT" panose="02020503060305020303" pitchFamily="18" charset="0"/>
              </a:rPr>
              <a:t>Real-world dataset comprising structural, locational, and geotechnical features of buildings affected by past earthquakes.</a:t>
            </a:r>
          </a:p>
          <a:p>
            <a:pPr lvl="1" algn="just">
              <a:lnSpc>
                <a:spcPct val="150000"/>
              </a:lnSpc>
            </a:pPr>
            <a:r>
              <a:rPr lang="en-US" sz="2500" dirty="0">
                <a:latin typeface="Bell MT" panose="02020503060305020303" pitchFamily="18" charset="0"/>
              </a:rPr>
              <a:t>Includes categorical and numerical variables relevant to damage assessment.</a:t>
            </a:r>
          </a:p>
        </p:txBody>
      </p:sp>
    </p:spTree>
    <p:extLst>
      <p:ext uri="{BB962C8B-B14F-4D97-AF65-F5344CB8AC3E}">
        <p14:creationId xmlns:p14="http://schemas.microsoft.com/office/powerpoint/2010/main" val="40777822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834DF-BE21-17BF-0B5D-458018965008}"/>
              </a:ext>
            </a:extLst>
          </p:cNvPr>
          <p:cNvSpPr>
            <a:spLocks noGrp="1"/>
          </p:cNvSpPr>
          <p:nvPr>
            <p:ph type="title"/>
          </p:nvPr>
        </p:nvSpPr>
        <p:spPr/>
        <p:txBody>
          <a:bodyPr/>
          <a:lstStyle/>
          <a:p>
            <a:r>
              <a:rPr lang="en-US" b="1" dirty="0">
                <a:latin typeface="Bell MT" panose="02020503060305020303" pitchFamily="18" charset="0"/>
              </a:rPr>
              <a:t>Dataset Description</a:t>
            </a:r>
          </a:p>
        </p:txBody>
      </p:sp>
      <p:sp>
        <p:nvSpPr>
          <p:cNvPr id="3" name="Content Placeholder 2">
            <a:extLst>
              <a:ext uri="{FF2B5EF4-FFF2-40B4-BE49-F238E27FC236}">
                <a16:creationId xmlns:a16="http://schemas.microsoft.com/office/drawing/2014/main" id="{733171C8-DE38-0602-FF7B-0FCBBF48B672}"/>
              </a:ext>
            </a:extLst>
          </p:cNvPr>
          <p:cNvSpPr>
            <a:spLocks noGrp="1"/>
          </p:cNvSpPr>
          <p:nvPr>
            <p:ph idx="1"/>
          </p:nvPr>
        </p:nvSpPr>
        <p:spPr/>
        <p:txBody>
          <a:bodyPr>
            <a:normAutofit/>
          </a:bodyPr>
          <a:lstStyle/>
          <a:p>
            <a:pPr marL="0" indent="0" algn="just">
              <a:lnSpc>
                <a:spcPct val="150000"/>
              </a:lnSpc>
              <a:buNone/>
            </a:pPr>
            <a:r>
              <a:rPr lang="en-US" sz="2500" dirty="0">
                <a:latin typeface="Bell MT" panose="02020503060305020303" pitchFamily="18" charset="0"/>
              </a:rPr>
              <a:t>The dataset used in this project is the "2015 Nepal Earthquake Building Damage Assessment" dataset, which is publicly accessible on Kaggle. It contains detailed records of over 25,000 buildings affected by the Gorkha Earthquake. This rich dataset includes a mix of structural, geospatial, and demographic attributes that serve as predictors for the damage classification task. It is considered a real-world benchmark for disaster impact modeling.</a:t>
            </a:r>
          </a:p>
        </p:txBody>
      </p:sp>
    </p:spTree>
    <p:extLst>
      <p:ext uri="{BB962C8B-B14F-4D97-AF65-F5344CB8AC3E}">
        <p14:creationId xmlns:p14="http://schemas.microsoft.com/office/powerpoint/2010/main" val="12058700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EE6CC2-055C-50B1-B117-CCF98DDE1D07}"/>
              </a:ext>
            </a:extLst>
          </p:cNvPr>
          <p:cNvSpPr>
            <a:spLocks noGrp="1"/>
          </p:cNvSpPr>
          <p:nvPr>
            <p:ph idx="1"/>
          </p:nvPr>
        </p:nvSpPr>
        <p:spPr>
          <a:xfrm>
            <a:off x="838200" y="856795"/>
            <a:ext cx="10515600" cy="4988833"/>
          </a:xfrm>
        </p:spPr>
        <p:txBody>
          <a:bodyPr>
            <a:normAutofit fontScale="85000" lnSpcReduction="20000"/>
          </a:bodyPr>
          <a:lstStyle/>
          <a:p>
            <a:pPr marL="0" indent="0" algn="just">
              <a:lnSpc>
                <a:spcPct val="150000"/>
              </a:lnSpc>
              <a:buNone/>
            </a:pPr>
            <a:r>
              <a:rPr lang="en-US" b="1" dirty="0">
                <a:latin typeface="Bell MT" panose="02020503060305020303" pitchFamily="18" charset="0"/>
              </a:rPr>
              <a:t>Key Attributes: </a:t>
            </a:r>
          </a:p>
          <a:p>
            <a:pPr algn="just">
              <a:lnSpc>
                <a:spcPct val="150000"/>
              </a:lnSpc>
            </a:pPr>
            <a:r>
              <a:rPr lang="en-US" dirty="0">
                <a:latin typeface="Bell MT" panose="02020503060305020303" pitchFamily="18" charset="0"/>
              </a:rPr>
              <a:t>Structural Features: </a:t>
            </a:r>
            <a:r>
              <a:rPr lang="en-US" dirty="0" err="1">
                <a:latin typeface="Bell MT" panose="02020503060305020303" pitchFamily="18" charset="0"/>
              </a:rPr>
              <a:t>count_floors_pre_eq</a:t>
            </a:r>
            <a:r>
              <a:rPr lang="en-US" dirty="0">
                <a:latin typeface="Bell MT" panose="02020503060305020303" pitchFamily="18" charset="0"/>
              </a:rPr>
              <a:t>, age, </a:t>
            </a:r>
            <a:r>
              <a:rPr lang="en-US" dirty="0" err="1">
                <a:latin typeface="Bell MT" panose="02020503060305020303" pitchFamily="18" charset="0"/>
              </a:rPr>
              <a:t>area_percentage</a:t>
            </a:r>
            <a:r>
              <a:rPr lang="en-US" dirty="0">
                <a:latin typeface="Bell MT" panose="02020503060305020303" pitchFamily="18" charset="0"/>
              </a:rPr>
              <a:t>, </a:t>
            </a:r>
            <a:r>
              <a:rPr lang="en-US" dirty="0" err="1">
                <a:latin typeface="Bell MT" panose="02020503060305020303" pitchFamily="18" charset="0"/>
              </a:rPr>
              <a:t>height_percentage</a:t>
            </a:r>
            <a:r>
              <a:rPr lang="en-US" dirty="0">
                <a:latin typeface="Bell MT" panose="02020503060305020303" pitchFamily="18" charset="0"/>
              </a:rPr>
              <a:t> — These represent the core physical parameters of buildings.</a:t>
            </a:r>
          </a:p>
          <a:p>
            <a:pPr algn="just">
              <a:lnSpc>
                <a:spcPct val="150000"/>
              </a:lnSpc>
            </a:pPr>
            <a:r>
              <a:rPr lang="en-US" dirty="0">
                <a:latin typeface="Bell MT" panose="02020503060305020303" pitchFamily="18" charset="0"/>
              </a:rPr>
              <a:t>Geospatial Features: latitude, longitude, </a:t>
            </a:r>
            <a:r>
              <a:rPr lang="en-US" dirty="0" err="1">
                <a:latin typeface="Bell MT" panose="02020503060305020303" pitchFamily="18" charset="0"/>
              </a:rPr>
              <a:t>district_id</a:t>
            </a:r>
            <a:r>
              <a:rPr lang="en-US" dirty="0">
                <a:latin typeface="Bell MT" panose="02020503060305020303" pitchFamily="18" charset="0"/>
              </a:rPr>
              <a:t> — Help in associating seismic impact based on location.</a:t>
            </a:r>
          </a:p>
          <a:p>
            <a:pPr algn="just">
              <a:lnSpc>
                <a:spcPct val="150000"/>
              </a:lnSpc>
            </a:pPr>
            <a:r>
              <a:rPr lang="en-US" dirty="0">
                <a:latin typeface="Bell MT" panose="02020503060305020303" pitchFamily="18" charset="0"/>
              </a:rPr>
              <a:t>Categorical Features: </a:t>
            </a:r>
            <a:r>
              <a:rPr lang="en-US" dirty="0" err="1">
                <a:latin typeface="Bell MT" panose="02020503060305020303" pitchFamily="18" charset="0"/>
              </a:rPr>
              <a:t>land_surface_condition</a:t>
            </a:r>
            <a:r>
              <a:rPr lang="en-US" dirty="0">
                <a:latin typeface="Bell MT" panose="02020503060305020303" pitchFamily="18" charset="0"/>
              </a:rPr>
              <a:t>, </a:t>
            </a:r>
            <a:r>
              <a:rPr lang="en-US" dirty="0" err="1">
                <a:latin typeface="Bell MT" panose="02020503060305020303" pitchFamily="18" charset="0"/>
              </a:rPr>
              <a:t>foundation_type</a:t>
            </a:r>
            <a:r>
              <a:rPr lang="en-US" dirty="0">
                <a:latin typeface="Bell MT" panose="02020503060305020303" pitchFamily="18" charset="0"/>
              </a:rPr>
              <a:t>, </a:t>
            </a:r>
            <a:r>
              <a:rPr lang="en-US" dirty="0" err="1">
                <a:latin typeface="Bell MT" panose="02020503060305020303" pitchFamily="18" charset="0"/>
              </a:rPr>
              <a:t>roof_type</a:t>
            </a:r>
            <a:r>
              <a:rPr lang="en-US" dirty="0">
                <a:latin typeface="Bell MT" panose="02020503060305020303" pitchFamily="18" charset="0"/>
              </a:rPr>
              <a:t>, </a:t>
            </a:r>
            <a:r>
              <a:rPr lang="en-US" dirty="0" err="1">
                <a:latin typeface="Bell MT" panose="02020503060305020303" pitchFamily="18" charset="0"/>
              </a:rPr>
              <a:t>ground_floor_type</a:t>
            </a:r>
            <a:r>
              <a:rPr lang="en-US" dirty="0">
                <a:latin typeface="Bell MT" panose="02020503060305020303" pitchFamily="18" charset="0"/>
              </a:rPr>
              <a:t> — Represent categorical infrastructure elements. </a:t>
            </a:r>
          </a:p>
          <a:p>
            <a:pPr algn="just">
              <a:lnSpc>
                <a:spcPct val="150000"/>
              </a:lnSpc>
            </a:pPr>
            <a:r>
              <a:rPr lang="en-US" dirty="0">
                <a:latin typeface="Bell MT" panose="02020503060305020303" pitchFamily="18" charset="0"/>
              </a:rPr>
              <a:t>Target Variable: </a:t>
            </a:r>
            <a:r>
              <a:rPr lang="en-US" dirty="0" err="1">
                <a:latin typeface="Bell MT" panose="02020503060305020303" pitchFamily="18" charset="0"/>
              </a:rPr>
              <a:t>damage_grade</a:t>
            </a:r>
            <a:r>
              <a:rPr lang="en-US" dirty="0">
                <a:latin typeface="Bell MT" panose="02020503060305020303" pitchFamily="18" charset="0"/>
              </a:rPr>
              <a:t>, a categorical label with values: 1 (Low), 2 (Medium), 3 (High).</a:t>
            </a:r>
          </a:p>
        </p:txBody>
      </p:sp>
    </p:spTree>
    <p:extLst>
      <p:ext uri="{BB962C8B-B14F-4D97-AF65-F5344CB8AC3E}">
        <p14:creationId xmlns:p14="http://schemas.microsoft.com/office/powerpoint/2010/main" val="19047732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3ABE74-E183-4D37-E14E-D334DDCEF0DA}"/>
              </a:ext>
            </a:extLst>
          </p:cNvPr>
          <p:cNvSpPr>
            <a:spLocks noGrp="1"/>
          </p:cNvSpPr>
          <p:nvPr>
            <p:ph idx="1"/>
          </p:nvPr>
        </p:nvSpPr>
        <p:spPr>
          <a:xfrm>
            <a:off x="838200" y="802367"/>
            <a:ext cx="10515600" cy="5195661"/>
          </a:xfrm>
        </p:spPr>
        <p:txBody>
          <a:bodyPr>
            <a:normAutofit fontScale="92500" lnSpcReduction="20000"/>
          </a:bodyPr>
          <a:lstStyle/>
          <a:p>
            <a:pPr marL="0" indent="0" algn="just">
              <a:lnSpc>
                <a:spcPct val="150000"/>
              </a:lnSpc>
              <a:buNone/>
            </a:pPr>
            <a:r>
              <a:rPr lang="en-US" b="1" dirty="0">
                <a:latin typeface="Bell MT" panose="02020503060305020303" pitchFamily="18" charset="0"/>
              </a:rPr>
              <a:t>Data Distribution</a:t>
            </a:r>
          </a:p>
          <a:p>
            <a:pPr algn="just">
              <a:lnSpc>
                <a:spcPct val="150000"/>
              </a:lnSpc>
            </a:pPr>
            <a:r>
              <a:rPr lang="en-US" dirty="0">
                <a:latin typeface="Bell MT" panose="02020503060305020303" pitchFamily="18" charset="0"/>
              </a:rPr>
              <a:t>The dataset is moderately imbalanced:</a:t>
            </a:r>
          </a:p>
          <a:p>
            <a:pPr lvl="1" algn="just">
              <a:lnSpc>
                <a:spcPct val="150000"/>
              </a:lnSpc>
            </a:pPr>
            <a:r>
              <a:rPr lang="en-US" dirty="0">
                <a:latin typeface="Bell MT" panose="02020503060305020303" pitchFamily="18" charset="0"/>
              </a:rPr>
              <a:t>Damage Grade 1 (Low): ~10% </a:t>
            </a:r>
          </a:p>
          <a:p>
            <a:pPr lvl="1" algn="just">
              <a:lnSpc>
                <a:spcPct val="150000"/>
              </a:lnSpc>
            </a:pPr>
            <a:r>
              <a:rPr lang="en-US" dirty="0">
                <a:latin typeface="Bell MT" panose="02020503060305020303" pitchFamily="18" charset="0"/>
              </a:rPr>
              <a:t>Damage Grade 2 (Medium): ~57% </a:t>
            </a:r>
          </a:p>
          <a:p>
            <a:pPr lvl="1" algn="just">
              <a:lnSpc>
                <a:spcPct val="150000"/>
              </a:lnSpc>
            </a:pPr>
            <a:r>
              <a:rPr lang="en-US" dirty="0">
                <a:latin typeface="Bell MT" panose="02020503060305020303" pitchFamily="18" charset="0"/>
              </a:rPr>
              <a:t>Damage Grade 3 (High): ~33% </a:t>
            </a:r>
          </a:p>
          <a:p>
            <a:pPr marL="0" indent="0" algn="just">
              <a:lnSpc>
                <a:spcPct val="150000"/>
              </a:lnSpc>
              <a:buNone/>
            </a:pPr>
            <a:r>
              <a:rPr lang="en-US" dirty="0">
                <a:latin typeface="Bell MT" panose="02020503060305020303" pitchFamily="18" charset="0"/>
              </a:rPr>
              <a:t>The dataset is moderately imbalanced, with a higher proportion of buildings suffering low to medium damage, and fewer instances categorized as high damage. This imbalance necessitates preprocessing strategies to ensure balanced learning. </a:t>
            </a:r>
          </a:p>
        </p:txBody>
      </p:sp>
    </p:spTree>
    <p:extLst>
      <p:ext uri="{BB962C8B-B14F-4D97-AF65-F5344CB8AC3E}">
        <p14:creationId xmlns:p14="http://schemas.microsoft.com/office/powerpoint/2010/main" val="30183233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AD7AD-FB8B-55A3-BB5D-29F6B7C4C0FA}"/>
              </a:ext>
            </a:extLst>
          </p:cNvPr>
          <p:cNvSpPr>
            <a:spLocks noGrp="1"/>
          </p:cNvSpPr>
          <p:nvPr>
            <p:ph type="title"/>
          </p:nvPr>
        </p:nvSpPr>
        <p:spPr/>
        <p:txBody>
          <a:bodyPr/>
          <a:lstStyle/>
          <a:p>
            <a:r>
              <a:rPr lang="en-US" b="1" dirty="0">
                <a:latin typeface="Bell MT" panose="02020503060305020303" pitchFamily="18" charset="0"/>
              </a:rPr>
              <a:t>Data Preprocessing</a:t>
            </a:r>
          </a:p>
        </p:txBody>
      </p:sp>
      <p:sp>
        <p:nvSpPr>
          <p:cNvPr id="3" name="Content Placeholder 2">
            <a:extLst>
              <a:ext uri="{FF2B5EF4-FFF2-40B4-BE49-F238E27FC236}">
                <a16:creationId xmlns:a16="http://schemas.microsoft.com/office/drawing/2014/main" id="{8AE2400E-B951-3009-D86B-C4CC4A944E1A}"/>
              </a:ext>
            </a:extLst>
          </p:cNvPr>
          <p:cNvSpPr>
            <a:spLocks noGrp="1"/>
          </p:cNvSpPr>
          <p:nvPr>
            <p:ph idx="1"/>
          </p:nvPr>
        </p:nvSpPr>
        <p:spPr/>
        <p:txBody>
          <a:bodyPr/>
          <a:lstStyle/>
          <a:p>
            <a:pPr lvl="1" algn="just">
              <a:lnSpc>
                <a:spcPct val="150000"/>
              </a:lnSpc>
            </a:pPr>
            <a:r>
              <a:rPr lang="en-US" sz="2500" dirty="0">
                <a:latin typeface="Bell MT" panose="02020503060305020303" pitchFamily="18" charset="0"/>
              </a:rPr>
              <a:t>Handling missing and inconsistent values.</a:t>
            </a:r>
          </a:p>
          <a:p>
            <a:pPr lvl="1" algn="just">
              <a:lnSpc>
                <a:spcPct val="150000"/>
              </a:lnSpc>
            </a:pPr>
            <a:r>
              <a:rPr lang="en-US" sz="2500" dirty="0">
                <a:latin typeface="Bell MT" panose="02020503060305020303" pitchFamily="18" charset="0"/>
              </a:rPr>
              <a:t>Encoding categorical features (e.g., one-hot or label encoding).</a:t>
            </a:r>
          </a:p>
          <a:p>
            <a:pPr lvl="1" algn="just">
              <a:lnSpc>
                <a:spcPct val="150000"/>
              </a:lnSpc>
            </a:pPr>
            <a:r>
              <a:rPr lang="en-US" sz="2500" dirty="0">
                <a:latin typeface="Bell MT" panose="02020503060305020303" pitchFamily="18" charset="0"/>
              </a:rPr>
              <a:t>Normalization or scaling of numerical variables.</a:t>
            </a:r>
          </a:p>
          <a:p>
            <a:pPr lvl="1" algn="just">
              <a:lnSpc>
                <a:spcPct val="150000"/>
              </a:lnSpc>
            </a:pPr>
            <a:r>
              <a:rPr lang="en-US" sz="2500" dirty="0">
                <a:latin typeface="Bell MT" panose="02020503060305020303" pitchFamily="18" charset="0"/>
              </a:rPr>
              <a:t>Splitting into training, validation, and test sets.</a:t>
            </a:r>
          </a:p>
          <a:p>
            <a:endParaRPr lang="en-US" dirty="0">
              <a:latin typeface="Bell MT" panose="02020503060305020303" pitchFamily="18" charset="0"/>
            </a:endParaRPr>
          </a:p>
        </p:txBody>
      </p:sp>
    </p:spTree>
    <p:extLst>
      <p:ext uri="{BB962C8B-B14F-4D97-AF65-F5344CB8AC3E}">
        <p14:creationId xmlns:p14="http://schemas.microsoft.com/office/powerpoint/2010/main" val="15732207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13056-0DFC-A569-658B-C62B60EAFF28}"/>
              </a:ext>
            </a:extLst>
          </p:cNvPr>
          <p:cNvSpPr>
            <a:spLocks noGrp="1"/>
          </p:cNvSpPr>
          <p:nvPr>
            <p:ph type="title"/>
          </p:nvPr>
        </p:nvSpPr>
        <p:spPr/>
        <p:txBody>
          <a:bodyPr/>
          <a:lstStyle/>
          <a:p>
            <a:r>
              <a:rPr lang="en-US" b="1" dirty="0">
                <a:latin typeface="Bell MT" panose="02020503060305020303" pitchFamily="18" charset="0"/>
              </a:rPr>
              <a:t>Model Training</a:t>
            </a:r>
          </a:p>
        </p:txBody>
      </p:sp>
      <p:sp>
        <p:nvSpPr>
          <p:cNvPr id="3" name="Content Placeholder 2">
            <a:extLst>
              <a:ext uri="{FF2B5EF4-FFF2-40B4-BE49-F238E27FC236}">
                <a16:creationId xmlns:a16="http://schemas.microsoft.com/office/drawing/2014/main" id="{7D9AA129-5C24-C576-3F6B-86D560CB1FC8}"/>
              </a:ext>
            </a:extLst>
          </p:cNvPr>
          <p:cNvSpPr>
            <a:spLocks noGrp="1"/>
          </p:cNvSpPr>
          <p:nvPr>
            <p:ph idx="1"/>
          </p:nvPr>
        </p:nvSpPr>
        <p:spPr>
          <a:xfrm>
            <a:off x="838200" y="1600200"/>
            <a:ext cx="10515600" cy="4713514"/>
          </a:xfrm>
        </p:spPr>
        <p:txBody>
          <a:bodyPr>
            <a:normAutofit fontScale="85000" lnSpcReduction="20000"/>
          </a:bodyPr>
          <a:lstStyle/>
          <a:p>
            <a:pPr>
              <a:lnSpc>
                <a:spcPct val="170000"/>
              </a:lnSpc>
              <a:buFont typeface="Arial" panose="020B0604020202020204" pitchFamily="34" charset="0"/>
              <a:buChar char="•"/>
            </a:pPr>
            <a:r>
              <a:rPr lang="en-US" sz="2600" dirty="0">
                <a:latin typeface="Bell MT" panose="02020503060305020303" pitchFamily="18" charset="0"/>
              </a:rPr>
              <a:t>Implementation of three deep learning models and three transformer -based models: </a:t>
            </a:r>
          </a:p>
          <a:p>
            <a:pPr marL="742950" lvl="1" indent="-285750">
              <a:lnSpc>
                <a:spcPct val="170000"/>
              </a:lnSpc>
              <a:buFont typeface="Arial" panose="020B0604020202020204" pitchFamily="34" charset="0"/>
              <a:buChar char="•"/>
            </a:pPr>
            <a:r>
              <a:rPr lang="en-US" sz="2600" dirty="0">
                <a:latin typeface="Bell MT" panose="02020503060305020303" pitchFamily="18" charset="0"/>
              </a:rPr>
              <a:t>Convolutional Neural Network (CNN)</a:t>
            </a:r>
          </a:p>
          <a:p>
            <a:pPr marL="742950" lvl="1" indent="-285750">
              <a:lnSpc>
                <a:spcPct val="170000"/>
              </a:lnSpc>
              <a:buFont typeface="Arial" panose="020B0604020202020204" pitchFamily="34" charset="0"/>
              <a:buChar char="•"/>
            </a:pPr>
            <a:r>
              <a:rPr lang="en-US" sz="2600" dirty="0">
                <a:latin typeface="Bell MT" panose="02020503060305020303" pitchFamily="18" charset="0"/>
              </a:rPr>
              <a:t>Bidirectional Long Short-Term Memory (</a:t>
            </a:r>
            <a:r>
              <a:rPr lang="en-US" sz="2600" dirty="0" err="1">
                <a:latin typeface="Bell MT" panose="02020503060305020303" pitchFamily="18" charset="0"/>
              </a:rPr>
              <a:t>BiLSTM</a:t>
            </a:r>
            <a:r>
              <a:rPr lang="en-US" sz="2600" dirty="0">
                <a:latin typeface="Bell MT" panose="02020503060305020303" pitchFamily="18" charset="0"/>
              </a:rPr>
              <a:t>)</a:t>
            </a:r>
          </a:p>
          <a:p>
            <a:pPr marL="742950" lvl="1" indent="-285750">
              <a:lnSpc>
                <a:spcPct val="170000"/>
              </a:lnSpc>
              <a:buFont typeface="Arial" panose="020B0604020202020204" pitchFamily="34" charset="0"/>
              <a:buChar char="•"/>
            </a:pPr>
            <a:r>
              <a:rPr lang="en-US" sz="2600" dirty="0">
                <a:latin typeface="Bell MT" panose="02020503060305020303" pitchFamily="18" charset="0"/>
              </a:rPr>
              <a:t>Graph Based Neural Networks (GBNN)</a:t>
            </a:r>
          </a:p>
          <a:p>
            <a:pPr marL="742950" lvl="1" indent="-285750">
              <a:lnSpc>
                <a:spcPct val="170000"/>
              </a:lnSpc>
              <a:buFont typeface="Arial" panose="020B0604020202020204" pitchFamily="34" charset="0"/>
              <a:buChar char="•"/>
            </a:pPr>
            <a:r>
              <a:rPr lang="en-US" sz="2600" dirty="0">
                <a:latin typeface="Bell MT" panose="02020503060305020303" pitchFamily="18" charset="0"/>
              </a:rPr>
              <a:t>Tabular Neural Network (</a:t>
            </a:r>
            <a:r>
              <a:rPr lang="en-US" sz="2600" dirty="0" err="1">
                <a:latin typeface="Bell MT" panose="02020503060305020303" pitchFamily="18" charset="0"/>
              </a:rPr>
              <a:t>TabNet</a:t>
            </a:r>
            <a:r>
              <a:rPr lang="en-US" sz="2600" dirty="0">
                <a:latin typeface="Bell MT" panose="02020503060305020303" pitchFamily="18" charset="0"/>
              </a:rPr>
              <a:t>)</a:t>
            </a:r>
          </a:p>
          <a:p>
            <a:pPr marL="742950" lvl="1" indent="-285750">
              <a:lnSpc>
                <a:spcPct val="170000"/>
              </a:lnSpc>
              <a:buFont typeface="Arial" panose="020B0604020202020204" pitchFamily="34" charset="0"/>
              <a:buChar char="•"/>
            </a:pPr>
            <a:r>
              <a:rPr lang="en-US" sz="2600" dirty="0">
                <a:latin typeface="Bell MT" panose="02020503060305020303" pitchFamily="18" charset="0"/>
              </a:rPr>
              <a:t>Tabular Prior-Data Fitted Network (</a:t>
            </a:r>
            <a:r>
              <a:rPr lang="en-US" sz="2600" dirty="0" err="1">
                <a:latin typeface="Bell MT" panose="02020503060305020303" pitchFamily="18" charset="0"/>
              </a:rPr>
              <a:t>TabPFN</a:t>
            </a:r>
            <a:r>
              <a:rPr lang="en-US" sz="2600" dirty="0">
                <a:latin typeface="Bell MT" panose="02020503060305020303" pitchFamily="18" charset="0"/>
              </a:rPr>
              <a:t>)</a:t>
            </a:r>
          </a:p>
          <a:p>
            <a:pPr marL="742950" lvl="1" indent="-285750">
              <a:lnSpc>
                <a:spcPct val="170000"/>
              </a:lnSpc>
              <a:buFont typeface="Arial" panose="020B0604020202020204" pitchFamily="34" charset="0"/>
              <a:buChar char="•"/>
            </a:pPr>
            <a:r>
              <a:rPr lang="en-US" sz="2600" dirty="0">
                <a:latin typeface="Bell MT" panose="02020503060305020303" pitchFamily="18" charset="0"/>
              </a:rPr>
              <a:t>Neural Oblivious Decision Ensembles (NODE)</a:t>
            </a:r>
          </a:p>
          <a:p>
            <a:pPr>
              <a:lnSpc>
                <a:spcPct val="170000"/>
              </a:lnSpc>
              <a:buFont typeface="Arial" panose="020B0604020202020204" pitchFamily="34" charset="0"/>
              <a:buChar char="•"/>
            </a:pPr>
            <a:r>
              <a:rPr lang="en-US" sz="2600" dirty="0">
                <a:latin typeface="Bell MT" panose="02020503060305020303" pitchFamily="18" charset="0"/>
              </a:rPr>
              <a:t>Tuning hyperparameters for each model architecture.</a:t>
            </a:r>
          </a:p>
          <a:p>
            <a:endParaRPr lang="en-US" dirty="0"/>
          </a:p>
        </p:txBody>
      </p:sp>
    </p:spTree>
    <p:extLst>
      <p:ext uri="{BB962C8B-B14F-4D97-AF65-F5344CB8AC3E}">
        <p14:creationId xmlns:p14="http://schemas.microsoft.com/office/powerpoint/2010/main" val="12245364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8CC6F-9145-6679-4868-8DEC669B4DDF}"/>
              </a:ext>
            </a:extLst>
          </p:cNvPr>
          <p:cNvSpPr>
            <a:spLocks noGrp="1"/>
          </p:cNvSpPr>
          <p:nvPr>
            <p:ph type="title"/>
          </p:nvPr>
        </p:nvSpPr>
        <p:spPr>
          <a:xfrm>
            <a:off x="839788" y="457200"/>
            <a:ext cx="4505098" cy="1163184"/>
          </a:xfrm>
        </p:spPr>
        <p:txBody>
          <a:bodyPr/>
          <a:lstStyle/>
          <a:p>
            <a:r>
              <a:rPr lang="en-US" b="1" dirty="0">
                <a:latin typeface="Bell MT" panose="02020503060305020303" pitchFamily="18" charset="0"/>
              </a:rPr>
              <a:t>CONVOLUTIONAL NEURAL NETWORK</a:t>
            </a:r>
          </a:p>
        </p:txBody>
      </p:sp>
      <p:pic>
        <p:nvPicPr>
          <p:cNvPr id="7" name="Picture Placeholder 6">
            <a:extLst>
              <a:ext uri="{FF2B5EF4-FFF2-40B4-BE49-F238E27FC236}">
                <a16:creationId xmlns:a16="http://schemas.microsoft.com/office/drawing/2014/main" id="{C1F2B8A6-FA7C-AF46-81C4-4203E2F2B53A}"/>
              </a:ext>
            </a:extLst>
          </p:cNvPr>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t="436" b="693"/>
          <a:stretch/>
        </p:blipFill>
        <p:spPr>
          <a:xfrm>
            <a:off x="371702" y="2230779"/>
            <a:ext cx="5724298" cy="2884714"/>
          </a:xfrm>
        </p:spPr>
      </p:pic>
      <p:sp>
        <p:nvSpPr>
          <p:cNvPr id="4" name="Text Placeholder 3">
            <a:extLst>
              <a:ext uri="{FF2B5EF4-FFF2-40B4-BE49-F238E27FC236}">
                <a16:creationId xmlns:a16="http://schemas.microsoft.com/office/drawing/2014/main" id="{0A8466CD-9A17-433F-E1A6-954571F8F621}"/>
              </a:ext>
            </a:extLst>
          </p:cNvPr>
          <p:cNvSpPr>
            <a:spLocks noGrp="1"/>
          </p:cNvSpPr>
          <p:nvPr>
            <p:ph type="body" sz="half" idx="2"/>
          </p:nvPr>
        </p:nvSpPr>
        <p:spPr>
          <a:xfrm>
            <a:off x="6511245" y="1620383"/>
            <a:ext cx="4951412" cy="4606245"/>
          </a:xfrm>
        </p:spPr>
        <p:txBody>
          <a:bodyPr>
            <a:noAutofit/>
          </a:bodyPr>
          <a:lstStyle/>
          <a:p>
            <a:pPr algn="just">
              <a:lnSpc>
                <a:spcPct val="150000"/>
              </a:lnSpc>
            </a:pPr>
            <a:r>
              <a:rPr lang="en-US" sz="1300" dirty="0">
                <a:effectLst/>
                <a:latin typeface="Times New Roman" panose="02020603050405020304" pitchFamily="18" charset="0"/>
                <a:ea typeface="Times New Roman" panose="02020603050405020304" pitchFamily="18" charset="0"/>
              </a:rPr>
              <a:t>Though typically employed for image data, CNNs were adapted for our structured data by reshaping features into matrix format. This transformation allowed convolutional layers to effectively capture spatial dependencies and interactions among features. This approach leverages the CNN's ability to detect patterns in local regions of data, enhancing its capability to extract meaningful representations from structured datasets. </a:t>
            </a:r>
            <a:endParaRPr lang="en-US" sz="1300" b="1" dirty="0"/>
          </a:p>
          <a:p>
            <a:pPr marL="285750" indent="-285750" algn="just">
              <a:lnSpc>
                <a:spcPct val="150000"/>
              </a:lnSpc>
              <a:buFont typeface="Arial" panose="020B0604020202020204" pitchFamily="34" charset="0"/>
              <a:buChar char="•"/>
            </a:pPr>
            <a:r>
              <a:rPr lang="en-US" sz="1300" b="1" dirty="0"/>
              <a:t>Conv1D Layers</a:t>
            </a:r>
            <a:r>
              <a:rPr lang="en-US" sz="1300" dirty="0"/>
              <a:t>: 3 layers (64, 128, 256 filters) with </a:t>
            </a:r>
            <a:r>
              <a:rPr lang="en-US" sz="1300" dirty="0" err="1"/>
              <a:t>ReLU</a:t>
            </a:r>
            <a:r>
              <a:rPr lang="en-US" sz="1300" dirty="0"/>
              <a:t> activation</a:t>
            </a:r>
          </a:p>
          <a:p>
            <a:pPr marL="285750" indent="-285750" algn="just">
              <a:lnSpc>
                <a:spcPct val="150000"/>
              </a:lnSpc>
              <a:buFont typeface="Arial" panose="020B0604020202020204" pitchFamily="34" charset="0"/>
              <a:buChar char="•"/>
            </a:pPr>
            <a:r>
              <a:rPr lang="en-US" sz="1300" b="1" dirty="0"/>
              <a:t>Pooling</a:t>
            </a:r>
            <a:r>
              <a:rPr lang="en-US" sz="1300" dirty="0"/>
              <a:t>: </a:t>
            </a:r>
            <a:r>
              <a:rPr lang="en-US" sz="1300" dirty="0" err="1"/>
              <a:t>MaxPooling</a:t>
            </a:r>
            <a:r>
              <a:rPr lang="en-US" sz="1300" dirty="0"/>
              <a:t> after each convolution to reduce dimensionality</a:t>
            </a:r>
          </a:p>
          <a:p>
            <a:pPr marL="285750" indent="-285750" algn="just">
              <a:lnSpc>
                <a:spcPct val="150000"/>
              </a:lnSpc>
              <a:buFont typeface="Arial" panose="020B0604020202020204" pitchFamily="34" charset="0"/>
              <a:buChar char="•"/>
            </a:pPr>
            <a:r>
              <a:rPr lang="en-US" sz="1300" b="1" dirty="0"/>
              <a:t>Dense Layers</a:t>
            </a:r>
            <a:r>
              <a:rPr lang="en-US" sz="1300" dirty="0"/>
              <a:t>: 4 layers (512 → 256 → 128 → 64) with </a:t>
            </a:r>
            <a:r>
              <a:rPr lang="en-US" sz="1300" dirty="0" err="1"/>
              <a:t>BatchNorm</a:t>
            </a:r>
            <a:r>
              <a:rPr lang="en-US" sz="1300" dirty="0"/>
              <a:t> + Dropout</a:t>
            </a:r>
          </a:p>
          <a:p>
            <a:pPr marL="285750" indent="-285750" algn="just">
              <a:lnSpc>
                <a:spcPct val="150000"/>
              </a:lnSpc>
              <a:buFont typeface="Arial" panose="020B0604020202020204" pitchFamily="34" charset="0"/>
              <a:buChar char="•"/>
            </a:pPr>
            <a:r>
              <a:rPr lang="en-US" sz="1300" b="1" dirty="0"/>
              <a:t>Output</a:t>
            </a:r>
            <a:r>
              <a:rPr lang="en-US" sz="1300" dirty="0"/>
              <a:t>: </a:t>
            </a:r>
            <a:r>
              <a:rPr lang="en-US" sz="1300" dirty="0" err="1"/>
              <a:t>Softmax</a:t>
            </a:r>
            <a:r>
              <a:rPr lang="en-US" sz="1300" dirty="0"/>
              <a:t> layer for multi-class classification (Low, Medium, High)</a:t>
            </a:r>
          </a:p>
        </p:txBody>
      </p:sp>
    </p:spTree>
    <p:extLst>
      <p:ext uri="{BB962C8B-B14F-4D97-AF65-F5344CB8AC3E}">
        <p14:creationId xmlns:p14="http://schemas.microsoft.com/office/powerpoint/2010/main" val="36764091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52E51-FFCF-B128-678F-989E4834F15B}"/>
              </a:ext>
            </a:extLst>
          </p:cNvPr>
          <p:cNvSpPr>
            <a:spLocks noGrp="1"/>
          </p:cNvSpPr>
          <p:nvPr>
            <p:ph type="title"/>
          </p:nvPr>
        </p:nvSpPr>
        <p:spPr>
          <a:xfrm>
            <a:off x="839788" y="457200"/>
            <a:ext cx="3932237" cy="1055914"/>
          </a:xfrm>
        </p:spPr>
        <p:txBody>
          <a:bodyPr/>
          <a:lstStyle/>
          <a:p>
            <a:r>
              <a:rPr lang="en-US" b="1" dirty="0">
                <a:latin typeface="Bell MT" panose="02020503060305020303" pitchFamily="18" charset="0"/>
              </a:rPr>
              <a:t>Bidirectional Long Short-Term Memory</a:t>
            </a:r>
          </a:p>
        </p:txBody>
      </p:sp>
      <p:pic>
        <p:nvPicPr>
          <p:cNvPr id="5" name="Image 18" descr="Bidirectional LSTM layer Architecture">
            <a:extLst>
              <a:ext uri="{FF2B5EF4-FFF2-40B4-BE49-F238E27FC236}">
                <a16:creationId xmlns:a16="http://schemas.microsoft.com/office/drawing/2014/main" id="{93FCFE18-17D3-CC15-3DF8-2E7F383FB705}"/>
              </a:ext>
            </a:extLst>
          </p:cNvPr>
          <p:cNvPicPr>
            <a:picLocks noGrp="1"/>
          </p:cNvPicPr>
          <p:nvPr>
            <p:ph type="pic" idx="1"/>
          </p:nvPr>
        </p:nvPicPr>
        <p:blipFill rotWithShape="1">
          <a:blip r:embed="rId2" cstate="print"/>
          <a:srcRect t="-83" b="-2586"/>
          <a:stretch/>
        </p:blipFill>
        <p:spPr>
          <a:xfrm>
            <a:off x="677748" y="1807029"/>
            <a:ext cx="4256315" cy="2623457"/>
          </a:xfrm>
          <a:prstGeom prst="rect">
            <a:avLst/>
          </a:prstGeom>
        </p:spPr>
      </p:pic>
      <p:sp>
        <p:nvSpPr>
          <p:cNvPr id="4" name="Text Placeholder 3">
            <a:extLst>
              <a:ext uri="{FF2B5EF4-FFF2-40B4-BE49-F238E27FC236}">
                <a16:creationId xmlns:a16="http://schemas.microsoft.com/office/drawing/2014/main" id="{A71FD30D-6810-3476-A3C5-579A3B15009A}"/>
              </a:ext>
            </a:extLst>
          </p:cNvPr>
          <p:cNvSpPr>
            <a:spLocks noGrp="1"/>
          </p:cNvSpPr>
          <p:nvPr>
            <p:ph type="body" sz="half" idx="2"/>
          </p:nvPr>
        </p:nvSpPr>
        <p:spPr>
          <a:xfrm>
            <a:off x="5225143" y="1807028"/>
            <a:ext cx="6289109" cy="4310743"/>
          </a:xfrm>
        </p:spPr>
        <p:txBody>
          <a:bodyPr/>
          <a:lstStyle/>
          <a:p>
            <a:pPr algn="just">
              <a:lnSpc>
                <a:spcPct val="150000"/>
              </a:lnSpc>
            </a:pPr>
            <a:r>
              <a:rPr lang="en-US" dirty="0">
                <a:latin typeface="Bell MT" panose="02020503060305020303" pitchFamily="18" charset="0"/>
              </a:rPr>
              <a:t>The Bidirectional LSTM (BLSTM) model processes tabular input features in both forward and backward directions, allowing it to capture contextual dependencies across feature sequences. As shown in the architecture, input sequences X</a:t>
            </a:r>
            <a:r>
              <a:rPr lang="en-US" baseline="-25000" dirty="0">
                <a:latin typeface="Bell MT" panose="02020503060305020303" pitchFamily="18" charset="0"/>
              </a:rPr>
              <a:t>0</a:t>
            </a:r>
            <a:r>
              <a:rPr lang="en-US" dirty="0">
                <a:latin typeface="Bell MT" panose="02020503060305020303" pitchFamily="18" charset="0"/>
              </a:rPr>
              <a:t>​ to X</a:t>
            </a:r>
            <a:r>
              <a:rPr lang="en-US" baseline="-25000" dirty="0">
                <a:latin typeface="Bell MT" panose="02020503060305020303" pitchFamily="18" charset="0"/>
              </a:rPr>
              <a:t>i​ </a:t>
            </a:r>
            <a:r>
              <a:rPr lang="en-US" dirty="0">
                <a:latin typeface="Bell MT" panose="02020503060305020303" pitchFamily="18" charset="0"/>
              </a:rPr>
              <a:t>pass through LSTM units (A) and their reverse counterparts (A′), with combined hidden states producing outputs Y</a:t>
            </a:r>
            <a:r>
              <a:rPr lang="en-US" baseline="-25000" dirty="0">
                <a:latin typeface="Bell MT" panose="02020503060305020303" pitchFamily="18" charset="0"/>
              </a:rPr>
              <a:t>0​ </a:t>
            </a:r>
            <a:r>
              <a:rPr lang="en-US" dirty="0">
                <a:latin typeface="Bell MT" panose="02020503060305020303" pitchFamily="18" charset="0"/>
              </a:rPr>
              <a:t>to Y</a:t>
            </a:r>
            <a:r>
              <a:rPr lang="en-US" baseline="-25000" dirty="0">
                <a:latin typeface="Bell MT" panose="02020503060305020303" pitchFamily="18" charset="0"/>
              </a:rPr>
              <a:t>i​</a:t>
            </a:r>
            <a:r>
              <a:rPr lang="en-US" dirty="0">
                <a:latin typeface="Bell MT" panose="02020503060305020303" pitchFamily="18" charset="0"/>
              </a:rPr>
              <a:t>. Two stacked BLSTM layers followed by dense layers with dropout and batch normalization enhance learning and generalization. Although the data is tabular, reshaping it into sequence-like form allows the model to extract richer inter-feature relationships. The final </a:t>
            </a:r>
            <a:r>
              <a:rPr lang="en-US" dirty="0" err="1">
                <a:latin typeface="Bell MT" panose="02020503060305020303" pitchFamily="18" charset="0"/>
              </a:rPr>
              <a:t>softmax</a:t>
            </a:r>
            <a:r>
              <a:rPr lang="en-US" dirty="0">
                <a:latin typeface="Bell MT" panose="02020503060305020303" pitchFamily="18" charset="0"/>
              </a:rPr>
              <a:t> layer classifies buildings into multi-class damage grades.</a:t>
            </a:r>
          </a:p>
        </p:txBody>
      </p:sp>
      <p:sp>
        <p:nvSpPr>
          <p:cNvPr id="8" name="TextBox 7">
            <a:extLst>
              <a:ext uri="{FF2B5EF4-FFF2-40B4-BE49-F238E27FC236}">
                <a16:creationId xmlns:a16="http://schemas.microsoft.com/office/drawing/2014/main" id="{2ECC80CB-6834-E649-6095-09185B710C74}"/>
              </a:ext>
            </a:extLst>
          </p:cNvPr>
          <p:cNvSpPr txBox="1"/>
          <p:nvPr/>
        </p:nvSpPr>
        <p:spPr>
          <a:xfrm>
            <a:off x="839788" y="4724401"/>
            <a:ext cx="3668485" cy="369332"/>
          </a:xfrm>
          <a:prstGeom prst="rect">
            <a:avLst/>
          </a:prstGeom>
          <a:noFill/>
        </p:spPr>
        <p:txBody>
          <a:bodyPr wrap="square" rtlCol="0">
            <a:spAutoFit/>
          </a:bodyPr>
          <a:lstStyle/>
          <a:p>
            <a:pPr algn="ctr"/>
            <a:r>
              <a:rPr lang="en-US" dirty="0">
                <a:latin typeface="Bell MT" panose="02020503060305020303" pitchFamily="18" charset="0"/>
              </a:rPr>
              <a:t>BLSTM Architecture</a:t>
            </a:r>
          </a:p>
        </p:txBody>
      </p:sp>
    </p:spTree>
    <p:extLst>
      <p:ext uri="{BB962C8B-B14F-4D97-AF65-F5344CB8AC3E}">
        <p14:creationId xmlns:p14="http://schemas.microsoft.com/office/powerpoint/2010/main" val="26688072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8F5F7-9956-4F9C-9E99-9BD4236DEA53}"/>
              </a:ext>
            </a:extLst>
          </p:cNvPr>
          <p:cNvSpPr>
            <a:spLocks noGrp="1"/>
          </p:cNvSpPr>
          <p:nvPr>
            <p:ph type="title"/>
          </p:nvPr>
        </p:nvSpPr>
        <p:spPr>
          <a:xfrm>
            <a:off x="709161" y="881743"/>
            <a:ext cx="5865812" cy="979714"/>
          </a:xfrm>
        </p:spPr>
        <p:txBody>
          <a:bodyPr/>
          <a:lstStyle/>
          <a:p>
            <a:r>
              <a:rPr lang="en-US" b="1" dirty="0">
                <a:latin typeface="Bell MT" panose="02020503060305020303" pitchFamily="18" charset="0"/>
              </a:rPr>
              <a:t>Gradient/Graph-Based Neural Network</a:t>
            </a:r>
          </a:p>
        </p:txBody>
      </p:sp>
      <p:pic>
        <p:nvPicPr>
          <p:cNvPr id="5" name="Image 19">
            <a:extLst>
              <a:ext uri="{FF2B5EF4-FFF2-40B4-BE49-F238E27FC236}">
                <a16:creationId xmlns:a16="http://schemas.microsoft.com/office/drawing/2014/main" id="{5CAAC624-4A61-A707-E6E7-9BE005EB5FAE}"/>
              </a:ext>
            </a:extLst>
          </p:cNvPr>
          <p:cNvPicPr>
            <a:picLocks noGrp="1"/>
          </p:cNvPicPr>
          <p:nvPr>
            <p:ph type="pic" idx="1"/>
          </p:nvPr>
        </p:nvPicPr>
        <p:blipFill rotWithShape="1">
          <a:blip r:embed="rId2" cstate="print"/>
          <a:srcRect t="-842" b="-769"/>
          <a:stretch/>
        </p:blipFill>
        <p:spPr>
          <a:xfrm>
            <a:off x="959531" y="2618014"/>
            <a:ext cx="4715102" cy="1839686"/>
          </a:xfrm>
          <a:prstGeom prst="rect">
            <a:avLst/>
          </a:prstGeom>
        </p:spPr>
      </p:pic>
      <p:sp>
        <p:nvSpPr>
          <p:cNvPr id="4" name="Text Placeholder 3">
            <a:extLst>
              <a:ext uri="{FF2B5EF4-FFF2-40B4-BE49-F238E27FC236}">
                <a16:creationId xmlns:a16="http://schemas.microsoft.com/office/drawing/2014/main" id="{9DC10920-6617-AEBC-2FC4-0460F1398A01}"/>
              </a:ext>
            </a:extLst>
          </p:cNvPr>
          <p:cNvSpPr>
            <a:spLocks noGrp="1"/>
          </p:cNvSpPr>
          <p:nvPr>
            <p:ph type="body" sz="half" idx="2"/>
          </p:nvPr>
        </p:nvSpPr>
        <p:spPr>
          <a:xfrm>
            <a:off x="6291942" y="2057399"/>
            <a:ext cx="5256212" cy="4125686"/>
          </a:xfrm>
        </p:spPr>
        <p:txBody>
          <a:bodyPr>
            <a:normAutofit/>
          </a:bodyPr>
          <a:lstStyle/>
          <a:p>
            <a:pPr algn="just">
              <a:lnSpc>
                <a:spcPct val="150000"/>
              </a:lnSpc>
            </a:pPr>
            <a:r>
              <a:rPr lang="en-US" sz="2000" dirty="0">
                <a:latin typeface="Bell MT" panose="02020503060305020303" pitchFamily="18" charset="0"/>
              </a:rPr>
              <a:t>GBNN combines tree-based models (like </a:t>
            </a:r>
            <a:r>
              <a:rPr lang="en-US" sz="2000" dirty="0" err="1">
                <a:latin typeface="Bell MT" panose="02020503060305020303" pitchFamily="18" charset="0"/>
              </a:rPr>
              <a:t>XGBoost</a:t>
            </a:r>
            <a:r>
              <a:rPr lang="en-US" sz="2000" dirty="0">
                <a:latin typeface="Bell MT" panose="02020503060305020303" pitchFamily="18" charset="0"/>
              </a:rPr>
              <a:t>) with neural networks by transforming decision paths (leaf indices) into high-dimensional learned embeddings, which are then passed to a deep neural network (DNN). This hybrid architecture captures both the structured logic of trees and the representation power of deep learning.</a:t>
            </a:r>
          </a:p>
        </p:txBody>
      </p:sp>
      <p:sp>
        <p:nvSpPr>
          <p:cNvPr id="6" name="TextBox 5">
            <a:extLst>
              <a:ext uri="{FF2B5EF4-FFF2-40B4-BE49-F238E27FC236}">
                <a16:creationId xmlns:a16="http://schemas.microsoft.com/office/drawing/2014/main" id="{ADEA90A4-A615-95A4-7374-74122290753D}"/>
              </a:ext>
            </a:extLst>
          </p:cNvPr>
          <p:cNvSpPr txBox="1"/>
          <p:nvPr/>
        </p:nvSpPr>
        <p:spPr>
          <a:xfrm>
            <a:off x="1284514" y="4844143"/>
            <a:ext cx="4060372" cy="323165"/>
          </a:xfrm>
          <a:prstGeom prst="rect">
            <a:avLst/>
          </a:prstGeom>
          <a:noFill/>
        </p:spPr>
        <p:txBody>
          <a:bodyPr wrap="square" rtlCol="0">
            <a:spAutoFit/>
          </a:bodyPr>
          <a:lstStyle/>
          <a:p>
            <a:pPr algn="ctr"/>
            <a:r>
              <a:rPr lang="en-US" sz="1500" dirty="0">
                <a:latin typeface="Bell MT" panose="02020503060305020303" pitchFamily="18" charset="0"/>
              </a:rPr>
              <a:t>GBNN Architecture</a:t>
            </a:r>
          </a:p>
        </p:txBody>
      </p:sp>
    </p:spTree>
    <p:extLst>
      <p:ext uri="{BB962C8B-B14F-4D97-AF65-F5344CB8AC3E}">
        <p14:creationId xmlns:p14="http://schemas.microsoft.com/office/powerpoint/2010/main" val="3215092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7E77D-B55C-F0DF-17CC-9CE499D18F81}"/>
              </a:ext>
            </a:extLst>
          </p:cNvPr>
          <p:cNvSpPr>
            <a:spLocks noGrp="1"/>
          </p:cNvSpPr>
          <p:nvPr>
            <p:ph type="title"/>
          </p:nvPr>
        </p:nvSpPr>
        <p:spPr>
          <a:xfrm>
            <a:off x="839788" y="457200"/>
            <a:ext cx="4309154" cy="892628"/>
          </a:xfrm>
        </p:spPr>
        <p:txBody>
          <a:bodyPr/>
          <a:lstStyle/>
          <a:p>
            <a:r>
              <a:rPr lang="en-US" b="1" dirty="0" err="1">
                <a:latin typeface="Bell MT" panose="02020503060305020303" pitchFamily="18" charset="0"/>
              </a:rPr>
              <a:t>TabNet</a:t>
            </a:r>
            <a:endParaRPr lang="en-US" b="1" dirty="0">
              <a:latin typeface="Bell MT" panose="02020503060305020303" pitchFamily="18" charset="0"/>
            </a:endParaRPr>
          </a:p>
        </p:txBody>
      </p:sp>
      <p:pic>
        <p:nvPicPr>
          <p:cNvPr id="5" name="Image 20">
            <a:extLst>
              <a:ext uri="{FF2B5EF4-FFF2-40B4-BE49-F238E27FC236}">
                <a16:creationId xmlns:a16="http://schemas.microsoft.com/office/drawing/2014/main" id="{F7BA29D1-0B76-5055-63D8-254613ACA781}"/>
              </a:ext>
            </a:extLst>
          </p:cNvPr>
          <p:cNvPicPr>
            <a:picLocks noGrp="1"/>
          </p:cNvPicPr>
          <p:nvPr>
            <p:ph type="pic" idx="1"/>
          </p:nvPr>
        </p:nvPicPr>
        <p:blipFill rotWithShape="1">
          <a:blip r:embed="rId2" cstate="print"/>
          <a:srcRect t="-149" b="226"/>
          <a:stretch/>
        </p:blipFill>
        <p:spPr>
          <a:xfrm>
            <a:off x="763587" y="1524793"/>
            <a:ext cx="4385355" cy="3265714"/>
          </a:xfrm>
          <a:prstGeom prst="rect">
            <a:avLst/>
          </a:prstGeom>
        </p:spPr>
      </p:pic>
      <p:sp>
        <p:nvSpPr>
          <p:cNvPr id="4" name="Text Placeholder 3">
            <a:extLst>
              <a:ext uri="{FF2B5EF4-FFF2-40B4-BE49-F238E27FC236}">
                <a16:creationId xmlns:a16="http://schemas.microsoft.com/office/drawing/2014/main" id="{F527A87E-FDF7-51EE-C3CA-F26FCD366C48}"/>
              </a:ext>
            </a:extLst>
          </p:cNvPr>
          <p:cNvSpPr>
            <a:spLocks noGrp="1"/>
          </p:cNvSpPr>
          <p:nvPr>
            <p:ph type="body" sz="half" idx="2"/>
          </p:nvPr>
        </p:nvSpPr>
        <p:spPr>
          <a:xfrm>
            <a:off x="6008914" y="1349828"/>
            <a:ext cx="5343298" cy="4909457"/>
          </a:xfrm>
        </p:spPr>
        <p:txBody>
          <a:bodyPr>
            <a:noAutofit/>
          </a:bodyPr>
          <a:lstStyle/>
          <a:p>
            <a:pPr>
              <a:lnSpc>
                <a:spcPct val="150000"/>
              </a:lnSpc>
            </a:pPr>
            <a:r>
              <a:rPr lang="en-US" dirty="0" err="1">
                <a:latin typeface="Bell MT" panose="02020503060305020303" pitchFamily="18" charset="0"/>
              </a:rPr>
              <a:t>TabNet</a:t>
            </a:r>
            <a:r>
              <a:rPr lang="en-US" dirty="0">
                <a:latin typeface="Bell MT" panose="02020503060305020303" pitchFamily="18" charset="0"/>
              </a:rPr>
              <a:t> is a deep learning architecture tailored for tabular data using sequential attention to select relevant features dynamically. It combines feature transformers and attentive transformers to learn complex patterns while maintaining interpretability. Sparse masks guide the model to focus on meaningful features at each decision step. Categorical features are one-hot encoded and numerical ones standardized for effective learning. The model uses an </a:t>
            </a:r>
            <a:r>
              <a:rPr lang="en-US" dirty="0" err="1">
                <a:latin typeface="Bell MT" panose="02020503060305020303" pitchFamily="18" charset="0"/>
              </a:rPr>
              <a:t>entmax</a:t>
            </a:r>
            <a:r>
              <a:rPr lang="en-US" dirty="0">
                <a:latin typeface="Bell MT" panose="02020503060305020303" pitchFamily="18" charset="0"/>
              </a:rPr>
              <a:t> mask type with three decision steps and is trained with Adam optimizer. Performance is evaluated using validation accuracy, confusion matrix, and classification metrics. </a:t>
            </a:r>
            <a:r>
              <a:rPr lang="en-US" dirty="0" err="1">
                <a:latin typeface="Bell MT" panose="02020503060305020303" pitchFamily="18" charset="0"/>
              </a:rPr>
              <a:t>TabNet</a:t>
            </a:r>
            <a:r>
              <a:rPr lang="en-US" dirty="0">
                <a:latin typeface="Bell MT" panose="02020503060305020303" pitchFamily="18" charset="0"/>
              </a:rPr>
              <a:t> effectively balances accuracy and feature-level interpretability in predicting building damages from earthquakes.</a:t>
            </a:r>
          </a:p>
        </p:txBody>
      </p:sp>
      <p:sp>
        <p:nvSpPr>
          <p:cNvPr id="9" name="TextBox 8">
            <a:extLst>
              <a:ext uri="{FF2B5EF4-FFF2-40B4-BE49-F238E27FC236}">
                <a16:creationId xmlns:a16="http://schemas.microsoft.com/office/drawing/2014/main" id="{DEAFAB2E-30A9-ED53-1403-209FC0218C2A}"/>
              </a:ext>
            </a:extLst>
          </p:cNvPr>
          <p:cNvSpPr txBox="1"/>
          <p:nvPr/>
        </p:nvSpPr>
        <p:spPr>
          <a:xfrm>
            <a:off x="1230086" y="5148943"/>
            <a:ext cx="3254828" cy="369332"/>
          </a:xfrm>
          <a:prstGeom prst="rect">
            <a:avLst/>
          </a:prstGeom>
          <a:noFill/>
        </p:spPr>
        <p:txBody>
          <a:bodyPr wrap="square" rtlCol="0">
            <a:spAutoFit/>
          </a:bodyPr>
          <a:lstStyle/>
          <a:p>
            <a:pPr algn="ctr"/>
            <a:r>
              <a:rPr lang="en-US" dirty="0" err="1">
                <a:latin typeface="Bell MT" panose="02020503060305020303" pitchFamily="18" charset="0"/>
              </a:rPr>
              <a:t>TabNet</a:t>
            </a:r>
            <a:r>
              <a:rPr lang="en-US" dirty="0">
                <a:latin typeface="Bell MT" panose="02020503060305020303" pitchFamily="18" charset="0"/>
              </a:rPr>
              <a:t> Architecture</a:t>
            </a:r>
          </a:p>
        </p:txBody>
      </p:sp>
    </p:spTree>
    <p:extLst>
      <p:ext uri="{BB962C8B-B14F-4D97-AF65-F5344CB8AC3E}">
        <p14:creationId xmlns:p14="http://schemas.microsoft.com/office/powerpoint/2010/main" val="29374914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3D6AE-76D3-F6DC-2CC7-01C3D1D533F5}"/>
              </a:ext>
            </a:extLst>
          </p:cNvPr>
          <p:cNvSpPr>
            <a:spLocks noGrp="1"/>
          </p:cNvSpPr>
          <p:nvPr>
            <p:ph type="title"/>
          </p:nvPr>
        </p:nvSpPr>
        <p:spPr>
          <a:xfrm>
            <a:off x="839788" y="457200"/>
            <a:ext cx="3932237" cy="1121229"/>
          </a:xfrm>
        </p:spPr>
        <p:txBody>
          <a:bodyPr/>
          <a:lstStyle/>
          <a:p>
            <a:r>
              <a:rPr lang="en-US" b="1" dirty="0">
                <a:latin typeface="Bell MT" panose="02020503060305020303" pitchFamily="18" charset="0"/>
              </a:rPr>
              <a:t>Tabular Prior-Data Fitted Network</a:t>
            </a:r>
          </a:p>
        </p:txBody>
      </p:sp>
      <p:pic>
        <p:nvPicPr>
          <p:cNvPr id="5" name="Image 21">
            <a:extLst>
              <a:ext uri="{FF2B5EF4-FFF2-40B4-BE49-F238E27FC236}">
                <a16:creationId xmlns:a16="http://schemas.microsoft.com/office/drawing/2014/main" id="{CA082336-CF6F-7BED-1354-ECE09625B610}"/>
              </a:ext>
            </a:extLst>
          </p:cNvPr>
          <p:cNvPicPr>
            <a:picLocks noGrp="1"/>
          </p:cNvPicPr>
          <p:nvPr>
            <p:ph type="pic" idx="1"/>
          </p:nvPr>
        </p:nvPicPr>
        <p:blipFill rotWithShape="1">
          <a:blip r:embed="rId2" cstate="print"/>
          <a:srcRect t="-575" b="-2578"/>
          <a:stretch/>
        </p:blipFill>
        <p:spPr>
          <a:xfrm>
            <a:off x="839787" y="2460170"/>
            <a:ext cx="3932237" cy="1611087"/>
          </a:xfrm>
          <a:prstGeom prst="rect">
            <a:avLst/>
          </a:prstGeom>
        </p:spPr>
      </p:pic>
      <p:sp>
        <p:nvSpPr>
          <p:cNvPr id="4" name="Text Placeholder 3">
            <a:extLst>
              <a:ext uri="{FF2B5EF4-FFF2-40B4-BE49-F238E27FC236}">
                <a16:creationId xmlns:a16="http://schemas.microsoft.com/office/drawing/2014/main" id="{B507E682-53B8-A463-FBBB-7804ADE52FC9}"/>
              </a:ext>
            </a:extLst>
          </p:cNvPr>
          <p:cNvSpPr>
            <a:spLocks noGrp="1"/>
          </p:cNvSpPr>
          <p:nvPr>
            <p:ph type="body" sz="half" idx="2"/>
          </p:nvPr>
        </p:nvSpPr>
        <p:spPr>
          <a:xfrm>
            <a:off x="5453858" y="1436915"/>
            <a:ext cx="5649571" cy="4626428"/>
          </a:xfrm>
        </p:spPr>
        <p:txBody>
          <a:bodyPr>
            <a:noAutofit/>
          </a:bodyPr>
          <a:lstStyle/>
          <a:p>
            <a:pPr algn="just">
              <a:lnSpc>
                <a:spcPct val="150000"/>
              </a:lnSpc>
            </a:pPr>
            <a:r>
              <a:rPr lang="en-US" sz="1700" dirty="0" err="1">
                <a:latin typeface="Bell MT" panose="02020503060305020303" pitchFamily="18" charset="0"/>
              </a:rPr>
              <a:t>TabPFN</a:t>
            </a:r>
            <a:r>
              <a:rPr lang="en-US" sz="1700" dirty="0">
                <a:latin typeface="Bell MT" panose="02020503060305020303" pitchFamily="18" charset="0"/>
              </a:rPr>
              <a:t> (Tabular Prior-Data Fitted Network) leverages prior distributions learned from synthetic tabular tasks to enable zero-shot inference on new datasets. It processes input tables using 1D feature and sample attention across multiple layers. Each node in the attention layers represents a single table entry, capturing interactions between features and samples. The network predicts the output distribution (e.g., regression target) for unseen data without needing retraining. Final predictions are produced by an MLP that transforms internal representations into a probability distribution. This enables fast, accurate tabular predictions without gradient-based training on the test data.</a:t>
            </a:r>
          </a:p>
        </p:txBody>
      </p:sp>
      <p:sp>
        <p:nvSpPr>
          <p:cNvPr id="6" name="TextBox 5">
            <a:extLst>
              <a:ext uri="{FF2B5EF4-FFF2-40B4-BE49-F238E27FC236}">
                <a16:creationId xmlns:a16="http://schemas.microsoft.com/office/drawing/2014/main" id="{67070C0A-54FB-B600-B659-20574B4FE3AB}"/>
              </a:ext>
            </a:extLst>
          </p:cNvPr>
          <p:cNvSpPr txBox="1"/>
          <p:nvPr/>
        </p:nvSpPr>
        <p:spPr>
          <a:xfrm>
            <a:off x="1164771" y="4408714"/>
            <a:ext cx="3200400" cy="369332"/>
          </a:xfrm>
          <a:prstGeom prst="rect">
            <a:avLst/>
          </a:prstGeom>
          <a:noFill/>
        </p:spPr>
        <p:txBody>
          <a:bodyPr wrap="square" rtlCol="0">
            <a:spAutoFit/>
          </a:bodyPr>
          <a:lstStyle/>
          <a:p>
            <a:pPr algn="ctr"/>
            <a:r>
              <a:rPr lang="en-US" dirty="0" err="1">
                <a:latin typeface="Bell MT" panose="02020503060305020303" pitchFamily="18" charset="0"/>
              </a:rPr>
              <a:t>TabPFN</a:t>
            </a:r>
            <a:r>
              <a:rPr lang="en-US" dirty="0">
                <a:latin typeface="Bell MT" panose="02020503060305020303" pitchFamily="18" charset="0"/>
              </a:rPr>
              <a:t> Architecture</a:t>
            </a:r>
          </a:p>
        </p:txBody>
      </p:sp>
    </p:spTree>
    <p:extLst>
      <p:ext uri="{BB962C8B-B14F-4D97-AF65-F5344CB8AC3E}">
        <p14:creationId xmlns:p14="http://schemas.microsoft.com/office/powerpoint/2010/main" val="41422076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4F8D2-45D2-F35A-16D9-D62BED328C96}"/>
              </a:ext>
            </a:extLst>
          </p:cNvPr>
          <p:cNvSpPr>
            <a:spLocks noGrp="1"/>
          </p:cNvSpPr>
          <p:nvPr>
            <p:ph type="title"/>
          </p:nvPr>
        </p:nvSpPr>
        <p:spPr>
          <a:xfrm>
            <a:off x="839788" y="533400"/>
            <a:ext cx="5016727" cy="1273629"/>
          </a:xfrm>
        </p:spPr>
        <p:txBody>
          <a:bodyPr>
            <a:normAutofit/>
          </a:bodyPr>
          <a:lstStyle/>
          <a:p>
            <a:r>
              <a:rPr lang="en-US" b="1" dirty="0">
                <a:effectLst/>
                <a:latin typeface="Bell MT" panose="02020503060305020303" pitchFamily="18" charset="0"/>
                <a:ea typeface="Times New Roman" panose="02020603050405020304" pitchFamily="18" charset="0"/>
                <a:cs typeface="Times New Roman" panose="02020603050405020304" pitchFamily="18" charset="0"/>
              </a:rPr>
              <a:t>Neural</a:t>
            </a:r>
            <a:r>
              <a:rPr lang="en-US" b="1" spc="-15" dirty="0">
                <a:effectLst/>
                <a:latin typeface="Bell MT" panose="02020503060305020303" pitchFamily="18" charset="0"/>
                <a:ea typeface="Times New Roman" panose="02020603050405020304" pitchFamily="18" charset="0"/>
                <a:cs typeface="Times New Roman" panose="02020603050405020304" pitchFamily="18" charset="0"/>
              </a:rPr>
              <a:t> </a:t>
            </a:r>
            <a:r>
              <a:rPr lang="en-US" b="1" dirty="0">
                <a:effectLst/>
                <a:latin typeface="Bell MT" panose="02020503060305020303" pitchFamily="18" charset="0"/>
                <a:ea typeface="Times New Roman" panose="02020603050405020304" pitchFamily="18" charset="0"/>
                <a:cs typeface="Times New Roman" panose="02020603050405020304" pitchFamily="18" charset="0"/>
              </a:rPr>
              <a:t>Oblivious</a:t>
            </a:r>
            <a:r>
              <a:rPr lang="en-US" b="1" spc="-15" dirty="0">
                <a:effectLst/>
                <a:latin typeface="Bell MT" panose="02020503060305020303" pitchFamily="18" charset="0"/>
                <a:ea typeface="Times New Roman" panose="02020603050405020304" pitchFamily="18" charset="0"/>
                <a:cs typeface="Times New Roman" panose="02020603050405020304" pitchFamily="18" charset="0"/>
              </a:rPr>
              <a:t> </a:t>
            </a:r>
            <a:r>
              <a:rPr lang="en-US" b="1" dirty="0">
                <a:effectLst/>
                <a:latin typeface="Bell MT" panose="02020503060305020303" pitchFamily="18" charset="0"/>
                <a:ea typeface="Times New Roman" panose="02020603050405020304" pitchFamily="18" charset="0"/>
                <a:cs typeface="Times New Roman" panose="02020603050405020304" pitchFamily="18" charset="0"/>
              </a:rPr>
              <a:t>Decision</a:t>
            </a:r>
            <a:r>
              <a:rPr lang="en-US" b="1" spc="-15" dirty="0">
                <a:effectLst/>
                <a:latin typeface="Bell MT" panose="02020503060305020303" pitchFamily="18" charset="0"/>
                <a:ea typeface="Times New Roman" panose="02020603050405020304" pitchFamily="18" charset="0"/>
                <a:cs typeface="Times New Roman" panose="02020603050405020304" pitchFamily="18" charset="0"/>
              </a:rPr>
              <a:t> </a:t>
            </a:r>
            <a:r>
              <a:rPr lang="en-US" b="1" dirty="0">
                <a:effectLst/>
                <a:latin typeface="Bell MT" panose="02020503060305020303" pitchFamily="18" charset="0"/>
                <a:ea typeface="Times New Roman" panose="02020603050405020304" pitchFamily="18" charset="0"/>
                <a:cs typeface="Times New Roman" panose="02020603050405020304" pitchFamily="18" charset="0"/>
              </a:rPr>
              <a:t>Ensembles</a:t>
            </a:r>
            <a:endParaRPr lang="en-US" b="1" dirty="0">
              <a:latin typeface="Bell MT" panose="02020503060305020303" pitchFamily="18" charset="0"/>
            </a:endParaRPr>
          </a:p>
        </p:txBody>
      </p:sp>
      <p:pic>
        <p:nvPicPr>
          <p:cNvPr id="5" name="Image 22">
            <a:extLst>
              <a:ext uri="{FF2B5EF4-FFF2-40B4-BE49-F238E27FC236}">
                <a16:creationId xmlns:a16="http://schemas.microsoft.com/office/drawing/2014/main" id="{74902F18-4644-329C-DAC9-8E2EA6697C00}"/>
              </a:ext>
            </a:extLst>
          </p:cNvPr>
          <p:cNvPicPr>
            <a:picLocks noGrp="1"/>
          </p:cNvPicPr>
          <p:nvPr>
            <p:ph type="pic" idx="1"/>
          </p:nvPr>
        </p:nvPicPr>
        <p:blipFill rotWithShape="1">
          <a:blip r:embed="rId2" cstate="print"/>
          <a:srcRect t="66" b="2432"/>
          <a:stretch/>
        </p:blipFill>
        <p:spPr>
          <a:xfrm>
            <a:off x="839788" y="2383970"/>
            <a:ext cx="4008549" cy="3200401"/>
          </a:xfrm>
          <a:prstGeom prst="rect">
            <a:avLst/>
          </a:prstGeom>
        </p:spPr>
      </p:pic>
      <p:sp>
        <p:nvSpPr>
          <p:cNvPr id="4" name="Text Placeholder 3">
            <a:extLst>
              <a:ext uri="{FF2B5EF4-FFF2-40B4-BE49-F238E27FC236}">
                <a16:creationId xmlns:a16="http://schemas.microsoft.com/office/drawing/2014/main" id="{35AC390B-BBB2-68A3-5C0B-4F46B4DB1A87}"/>
              </a:ext>
            </a:extLst>
          </p:cNvPr>
          <p:cNvSpPr>
            <a:spLocks noGrp="1"/>
          </p:cNvSpPr>
          <p:nvPr>
            <p:ph type="body" sz="half" idx="2"/>
          </p:nvPr>
        </p:nvSpPr>
        <p:spPr>
          <a:xfrm>
            <a:off x="5856515" y="1915886"/>
            <a:ext cx="5268686" cy="4105503"/>
          </a:xfrm>
        </p:spPr>
        <p:txBody>
          <a:bodyPr>
            <a:normAutofit/>
          </a:bodyPr>
          <a:lstStyle/>
          <a:p>
            <a:pPr marL="285750" indent="-285750" algn="just">
              <a:lnSpc>
                <a:spcPct val="150000"/>
              </a:lnSpc>
              <a:buFont typeface="Arial" panose="020B0604020202020204" pitchFamily="34" charset="0"/>
              <a:buChar char="•"/>
            </a:pPr>
            <a:r>
              <a:rPr lang="en-US" sz="2000" dirty="0"/>
              <a:t>A hybrid of deep learning and decision trees, offering interpretability and high performance on tabular data. </a:t>
            </a:r>
          </a:p>
          <a:p>
            <a:pPr marL="285750" indent="-285750" algn="just">
              <a:lnSpc>
                <a:spcPct val="150000"/>
              </a:lnSpc>
              <a:buFont typeface="Arial" panose="020B0604020202020204" pitchFamily="34" charset="0"/>
              <a:buChar char="•"/>
            </a:pPr>
            <a:r>
              <a:rPr lang="en-US" sz="2000" dirty="0"/>
              <a:t>Learns hierarchical feature interactions efficiently, useful for multi-factor earthquake damage prediction. </a:t>
            </a:r>
          </a:p>
          <a:p>
            <a:pPr marL="285750" indent="-285750" algn="just">
              <a:lnSpc>
                <a:spcPct val="150000"/>
              </a:lnSpc>
              <a:buFont typeface="Arial" panose="020B0604020202020204" pitchFamily="34" charset="0"/>
              <a:buChar char="•"/>
            </a:pPr>
            <a:r>
              <a:rPr lang="en-US" sz="2000" dirty="0"/>
              <a:t>Can handle both categorical and numerical data effectively</a:t>
            </a:r>
          </a:p>
        </p:txBody>
      </p:sp>
      <p:sp>
        <p:nvSpPr>
          <p:cNvPr id="6" name="TextBox 5">
            <a:extLst>
              <a:ext uri="{FF2B5EF4-FFF2-40B4-BE49-F238E27FC236}">
                <a16:creationId xmlns:a16="http://schemas.microsoft.com/office/drawing/2014/main" id="{A374674F-6C13-FA38-9F6C-953822D8D8FC}"/>
              </a:ext>
            </a:extLst>
          </p:cNvPr>
          <p:cNvSpPr txBox="1"/>
          <p:nvPr/>
        </p:nvSpPr>
        <p:spPr>
          <a:xfrm>
            <a:off x="1023257" y="5693229"/>
            <a:ext cx="3825080" cy="276999"/>
          </a:xfrm>
          <a:prstGeom prst="rect">
            <a:avLst/>
          </a:prstGeom>
          <a:noFill/>
        </p:spPr>
        <p:txBody>
          <a:bodyPr wrap="square" rtlCol="0">
            <a:spAutoFit/>
          </a:bodyPr>
          <a:lstStyle/>
          <a:p>
            <a:pPr algn="ctr"/>
            <a:r>
              <a:rPr lang="en-US" sz="1200" dirty="0">
                <a:effectLst/>
                <a:latin typeface="Bell MT" panose="02020503060305020303" pitchFamily="18" charset="0"/>
                <a:ea typeface="Times New Roman" panose="02020603050405020304" pitchFamily="18" charset="0"/>
                <a:cs typeface="Times New Roman" panose="02020603050405020304" pitchFamily="18" charset="0"/>
              </a:rPr>
              <a:t>Neural</a:t>
            </a:r>
            <a:r>
              <a:rPr lang="en-US" sz="1200" spc="-15" dirty="0">
                <a:effectLst/>
                <a:latin typeface="Bell MT" panose="02020503060305020303" pitchFamily="18" charset="0"/>
                <a:ea typeface="Times New Roman" panose="02020603050405020304" pitchFamily="18" charset="0"/>
                <a:cs typeface="Times New Roman" panose="02020603050405020304" pitchFamily="18" charset="0"/>
              </a:rPr>
              <a:t> </a:t>
            </a:r>
            <a:r>
              <a:rPr lang="en-US" sz="1200" dirty="0">
                <a:effectLst/>
                <a:latin typeface="Bell MT" panose="02020503060305020303" pitchFamily="18" charset="0"/>
                <a:ea typeface="Times New Roman" panose="02020603050405020304" pitchFamily="18" charset="0"/>
                <a:cs typeface="Times New Roman" panose="02020603050405020304" pitchFamily="18" charset="0"/>
              </a:rPr>
              <a:t>Oblivious</a:t>
            </a:r>
            <a:r>
              <a:rPr lang="en-US" sz="1200" spc="-15" dirty="0">
                <a:effectLst/>
                <a:latin typeface="Bell MT" panose="02020503060305020303" pitchFamily="18" charset="0"/>
                <a:ea typeface="Times New Roman" panose="02020603050405020304" pitchFamily="18" charset="0"/>
                <a:cs typeface="Times New Roman" panose="02020603050405020304" pitchFamily="18" charset="0"/>
              </a:rPr>
              <a:t> </a:t>
            </a:r>
            <a:r>
              <a:rPr lang="en-US" sz="1200" dirty="0">
                <a:effectLst/>
                <a:latin typeface="Bell MT" panose="02020503060305020303" pitchFamily="18" charset="0"/>
                <a:ea typeface="Times New Roman" panose="02020603050405020304" pitchFamily="18" charset="0"/>
                <a:cs typeface="Times New Roman" panose="02020603050405020304" pitchFamily="18" charset="0"/>
              </a:rPr>
              <a:t>Decision</a:t>
            </a:r>
            <a:r>
              <a:rPr lang="en-US" sz="1200" spc="-15" dirty="0">
                <a:effectLst/>
                <a:latin typeface="Bell MT" panose="02020503060305020303" pitchFamily="18" charset="0"/>
                <a:ea typeface="Times New Roman" panose="02020603050405020304" pitchFamily="18" charset="0"/>
                <a:cs typeface="Times New Roman" panose="02020603050405020304" pitchFamily="18" charset="0"/>
              </a:rPr>
              <a:t> </a:t>
            </a:r>
            <a:r>
              <a:rPr lang="en-US" sz="1200" dirty="0">
                <a:effectLst/>
                <a:latin typeface="Bell MT" panose="02020503060305020303" pitchFamily="18" charset="0"/>
                <a:ea typeface="Times New Roman" panose="02020603050405020304" pitchFamily="18" charset="0"/>
                <a:cs typeface="Times New Roman" panose="02020603050405020304" pitchFamily="18" charset="0"/>
              </a:rPr>
              <a:t>Ensembles</a:t>
            </a:r>
            <a:r>
              <a:rPr lang="en-US" sz="1200" spc="-10" dirty="0">
                <a:effectLst/>
                <a:latin typeface="Bell MT" panose="02020503060305020303" pitchFamily="18" charset="0"/>
                <a:ea typeface="Times New Roman" panose="02020603050405020304" pitchFamily="18" charset="0"/>
                <a:cs typeface="Times New Roman" panose="02020603050405020304" pitchFamily="18" charset="0"/>
              </a:rPr>
              <a:t> Architecture</a:t>
            </a:r>
            <a:endParaRPr lang="en-US" sz="1200" dirty="0">
              <a:latin typeface="Bell MT" panose="02020503060305020303" pitchFamily="18" charset="0"/>
            </a:endParaRPr>
          </a:p>
        </p:txBody>
      </p:sp>
    </p:spTree>
    <p:extLst>
      <p:ext uri="{BB962C8B-B14F-4D97-AF65-F5344CB8AC3E}">
        <p14:creationId xmlns:p14="http://schemas.microsoft.com/office/powerpoint/2010/main" val="17238567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19573-4CAD-EBC1-B959-AC8C62530339}"/>
              </a:ext>
            </a:extLst>
          </p:cNvPr>
          <p:cNvSpPr>
            <a:spLocks noGrp="1"/>
          </p:cNvSpPr>
          <p:nvPr>
            <p:ph type="title"/>
          </p:nvPr>
        </p:nvSpPr>
        <p:spPr/>
        <p:txBody>
          <a:bodyPr/>
          <a:lstStyle/>
          <a:p>
            <a:r>
              <a:rPr lang="en-US" b="1" dirty="0">
                <a:latin typeface="Bell MT" panose="02020503060305020303" pitchFamily="18" charset="0"/>
              </a:rPr>
              <a:t>Experimental Results and Analysis</a:t>
            </a:r>
          </a:p>
        </p:txBody>
      </p:sp>
      <p:sp>
        <p:nvSpPr>
          <p:cNvPr id="3" name="Content Placeholder 2">
            <a:extLst>
              <a:ext uri="{FF2B5EF4-FFF2-40B4-BE49-F238E27FC236}">
                <a16:creationId xmlns:a16="http://schemas.microsoft.com/office/drawing/2014/main" id="{0D906CA4-CB8B-2A6C-27BF-FAB6A5F03AFA}"/>
              </a:ext>
            </a:extLst>
          </p:cNvPr>
          <p:cNvSpPr>
            <a:spLocks noGrp="1"/>
          </p:cNvSpPr>
          <p:nvPr>
            <p:ph idx="1"/>
          </p:nvPr>
        </p:nvSpPr>
        <p:spPr>
          <a:xfrm>
            <a:off x="838200" y="1545771"/>
            <a:ext cx="10515600" cy="4631192"/>
          </a:xfrm>
        </p:spPr>
        <p:txBody>
          <a:bodyPr>
            <a:normAutofit fontScale="92500"/>
          </a:bodyPr>
          <a:lstStyle/>
          <a:p>
            <a:pPr marL="0" indent="0">
              <a:buNone/>
            </a:pPr>
            <a:r>
              <a:rPr lang="en-US" b="1" dirty="0">
                <a:latin typeface="Bell MT" panose="02020503060305020303" pitchFamily="18" charset="0"/>
              </a:rPr>
              <a:t>Performance Measures</a:t>
            </a:r>
          </a:p>
          <a:p>
            <a:pPr marL="457200" lvl="1" indent="0">
              <a:buNone/>
            </a:pPr>
            <a:r>
              <a:rPr lang="en-US" dirty="0">
                <a:latin typeface="Bell MT" panose="02020503060305020303" pitchFamily="18" charset="0"/>
              </a:rPr>
              <a:t>We evaluated models using,</a:t>
            </a:r>
          </a:p>
          <a:p>
            <a:pPr lvl="1" algn="just">
              <a:lnSpc>
                <a:spcPct val="150000"/>
              </a:lnSpc>
            </a:pPr>
            <a:r>
              <a:rPr lang="en-US" dirty="0">
                <a:latin typeface="Bell MT" panose="02020503060305020303" pitchFamily="18" charset="0"/>
              </a:rPr>
              <a:t>Accuracy - The proportion of total correct predictions out of all predictions made.</a:t>
            </a:r>
          </a:p>
          <a:p>
            <a:pPr lvl="1" algn="just">
              <a:lnSpc>
                <a:spcPct val="150000"/>
              </a:lnSpc>
            </a:pPr>
            <a:r>
              <a:rPr lang="en-US" dirty="0">
                <a:latin typeface="Bell MT" panose="02020503060305020303" pitchFamily="18" charset="0"/>
              </a:rPr>
              <a:t>Precision - The proportion of correctly predicted positives out of all predicted positives.</a:t>
            </a:r>
          </a:p>
          <a:p>
            <a:pPr lvl="1" algn="just">
              <a:lnSpc>
                <a:spcPct val="150000"/>
              </a:lnSpc>
            </a:pPr>
            <a:r>
              <a:rPr lang="en-US" dirty="0">
                <a:latin typeface="Bell MT" panose="02020503060305020303" pitchFamily="18" charset="0"/>
              </a:rPr>
              <a:t>Recall - The proportion of correctly predicted positives out of all actual positives.</a:t>
            </a:r>
          </a:p>
          <a:p>
            <a:pPr lvl="1" algn="just">
              <a:lnSpc>
                <a:spcPct val="150000"/>
              </a:lnSpc>
            </a:pPr>
            <a:r>
              <a:rPr lang="en-US" dirty="0">
                <a:latin typeface="Bell MT" panose="02020503060305020303" pitchFamily="18" charset="0"/>
              </a:rPr>
              <a:t>F1-score - The harmonic mean of precision and recall, balancing both metrics.</a:t>
            </a:r>
          </a:p>
          <a:p>
            <a:pPr lvl="1" algn="just">
              <a:lnSpc>
                <a:spcPct val="150000"/>
              </a:lnSpc>
            </a:pPr>
            <a:r>
              <a:rPr lang="en-US" dirty="0">
                <a:latin typeface="Bell MT" panose="02020503060305020303" pitchFamily="18" charset="0"/>
              </a:rPr>
              <a:t>Confusion Matrix - A table showing true vs. predicted classifications for each class.</a:t>
            </a:r>
          </a:p>
        </p:txBody>
      </p:sp>
    </p:spTree>
    <p:extLst>
      <p:ext uri="{BB962C8B-B14F-4D97-AF65-F5344CB8AC3E}">
        <p14:creationId xmlns:p14="http://schemas.microsoft.com/office/powerpoint/2010/main" val="14221678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C0728-66C9-879E-BAB5-3B8F6C1B041C}"/>
              </a:ext>
            </a:extLst>
          </p:cNvPr>
          <p:cNvSpPr>
            <a:spLocks noGrp="1"/>
          </p:cNvSpPr>
          <p:nvPr>
            <p:ph type="title"/>
          </p:nvPr>
        </p:nvSpPr>
        <p:spPr/>
        <p:txBody>
          <a:bodyPr/>
          <a:lstStyle/>
          <a:p>
            <a:r>
              <a:rPr lang="en-US" b="1" dirty="0">
                <a:latin typeface="Bell MT" panose="02020503060305020303" pitchFamily="18" charset="0"/>
              </a:rPr>
              <a:t>CNN</a:t>
            </a:r>
          </a:p>
        </p:txBody>
      </p:sp>
      <p:pic>
        <p:nvPicPr>
          <p:cNvPr id="5" name="Content Placeholder 4">
            <a:extLst>
              <a:ext uri="{FF2B5EF4-FFF2-40B4-BE49-F238E27FC236}">
                <a16:creationId xmlns:a16="http://schemas.microsoft.com/office/drawing/2014/main" id="{DBA21685-294F-D76F-6E50-A581402ACEAF}"/>
              </a:ext>
            </a:extLst>
          </p:cNvPr>
          <p:cNvPicPr>
            <a:picLocks noGrp="1" noChangeAspect="1"/>
          </p:cNvPicPr>
          <p:nvPr>
            <p:ph idx="1"/>
          </p:nvPr>
        </p:nvPicPr>
        <p:blipFill>
          <a:blip r:embed="rId2"/>
          <a:stretch>
            <a:fillRect/>
          </a:stretch>
        </p:blipFill>
        <p:spPr>
          <a:xfrm>
            <a:off x="1437067" y="1825625"/>
            <a:ext cx="9317865" cy="4351338"/>
          </a:xfrm>
        </p:spPr>
      </p:pic>
    </p:spTree>
    <p:extLst>
      <p:ext uri="{BB962C8B-B14F-4D97-AF65-F5344CB8AC3E}">
        <p14:creationId xmlns:p14="http://schemas.microsoft.com/office/powerpoint/2010/main" val="27872351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9F9CE-9438-4D14-89DB-E20CE3E45ABF}"/>
              </a:ext>
            </a:extLst>
          </p:cNvPr>
          <p:cNvSpPr>
            <a:spLocks noGrp="1"/>
          </p:cNvSpPr>
          <p:nvPr>
            <p:ph type="title"/>
          </p:nvPr>
        </p:nvSpPr>
        <p:spPr/>
        <p:txBody>
          <a:bodyPr/>
          <a:lstStyle/>
          <a:p>
            <a:r>
              <a:rPr lang="en-US" b="1" dirty="0">
                <a:latin typeface="Bell MT" panose="02020503060305020303" pitchFamily="18" charset="0"/>
              </a:rPr>
              <a:t>BLSTM</a:t>
            </a:r>
          </a:p>
        </p:txBody>
      </p:sp>
      <p:pic>
        <p:nvPicPr>
          <p:cNvPr id="5" name="Content Placeholder 4">
            <a:extLst>
              <a:ext uri="{FF2B5EF4-FFF2-40B4-BE49-F238E27FC236}">
                <a16:creationId xmlns:a16="http://schemas.microsoft.com/office/drawing/2014/main" id="{BAF00B31-28BC-B44E-A588-280FD3D3B77D}"/>
              </a:ext>
            </a:extLst>
          </p:cNvPr>
          <p:cNvPicPr>
            <a:picLocks noGrp="1" noChangeAspect="1"/>
          </p:cNvPicPr>
          <p:nvPr>
            <p:ph idx="1"/>
          </p:nvPr>
        </p:nvPicPr>
        <p:blipFill>
          <a:blip r:embed="rId2"/>
          <a:stretch>
            <a:fillRect/>
          </a:stretch>
        </p:blipFill>
        <p:spPr>
          <a:xfrm>
            <a:off x="1227398" y="1825625"/>
            <a:ext cx="9737203" cy="4351338"/>
          </a:xfrm>
        </p:spPr>
      </p:pic>
    </p:spTree>
    <p:extLst>
      <p:ext uri="{BB962C8B-B14F-4D97-AF65-F5344CB8AC3E}">
        <p14:creationId xmlns:p14="http://schemas.microsoft.com/office/powerpoint/2010/main" val="27057266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39B51-D316-4ED6-A626-FD8E4CA5AEFE}"/>
              </a:ext>
            </a:extLst>
          </p:cNvPr>
          <p:cNvSpPr>
            <a:spLocks noGrp="1"/>
          </p:cNvSpPr>
          <p:nvPr>
            <p:ph type="title"/>
          </p:nvPr>
        </p:nvSpPr>
        <p:spPr/>
        <p:txBody>
          <a:bodyPr/>
          <a:lstStyle/>
          <a:p>
            <a:r>
              <a:rPr lang="en-US" b="1" dirty="0">
                <a:latin typeface="Bell MT" panose="02020503060305020303" pitchFamily="18" charset="0"/>
              </a:rPr>
              <a:t>GBNN</a:t>
            </a:r>
          </a:p>
        </p:txBody>
      </p:sp>
      <p:pic>
        <p:nvPicPr>
          <p:cNvPr id="5" name="Content Placeholder 4">
            <a:extLst>
              <a:ext uri="{FF2B5EF4-FFF2-40B4-BE49-F238E27FC236}">
                <a16:creationId xmlns:a16="http://schemas.microsoft.com/office/drawing/2014/main" id="{1BE9EA61-172B-2A33-2F11-C47C8BE4A8F1}"/>
              </a:ext>
            </a:extLst>
          </p:cNvPr>
          <p:cNvPicPr>
            <a:picLocks noGrp="1" noChangeAspect="1"/>
          </p:cNvPicPr>
          <p:nvPr>
            <p:ph idx="1"/>
          </p:nvPr>
        </p:nvPicPr>
        <p:blipFill>
          <a:blip r:embed="rId2"/>
          <a:stretch>
            <a:fillRect/>
          </a:stretch>
        </p:blipFill>
        <p:spPr>
          <a:xfrm>
            <a:off x="1643803" y="1825625"/>
            <a:ext cx="8904393" cy="4351338"/>
          </a:xfrm>
        </p:spPr>
      </p:pic>
    </p:spTree>
    <p:extLst>
      <p:ext uri="{BB962C8B-B14F-4D97-AF65-F5344CB8AC3E}">
        <p14:creationId xmlns:p14="http://schemas.microsoft.com/office/powerpoint/2010/main" val="19925617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2348-E604-7062-DC0C-7FC7226888B8}"/>
              </a:ext>
            </a:extLst>
          </p:cNvPr>
          <p:cNvSpPr>
            <a:spLocks noGrp="1"/>
          </p:cNvSpPr>
          <p:nvPr>
            <p:ph type="title"/>
          </p:nvPr>
        </p:nvSpPr>
        <p:spPr/>
        <p:txBody>
          <a:bodyPr/>
          <a:lstStyle/>
          <a:p>
            <a:r>
              <a:rPr lang="en-US" b="1" dirty="0" err="1">
                <a:latin typeface="Bell MT" panose="02020503060305020303" pitchFamily="18" charset="0"/>
              </a:rPr>
              <a:t>TabNet</a:t>
            </a:r>
            <a:endParaRPr lang="en-US" b="1" dirty="0">
              <a:latin typeface="Bell MT" panose="02020503060305020303" pitchFamily="18" charset="0"/>
            </a:endParaRPr>
          </a:p>
        </p:txBody>
      </p:sp>
      <p:pic>
        <p:nvPicPr>
          <p:cNvPr id="15" name="Content Placeholder 14">
            <a:extLst>
              <a:ext uri="{FF2B5EF4-FFF2-40B4-BE49-F238E27FC236}">
                <a16:creationId xmlns:a16="http://schemas.microsoft.com/office/drawing/2014/main" id="{758489C9-6822-F347-9E3A-0F852CB698E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34414" y="1825625"/>
            <a:ext cx="5562329" cy="2027238"/>
          </a:xfrm>
        </p:spPr>
      </p:pic>
      <p:pic>
        <p:nvPicPr>
          <p:cNvPr id="13" name="Picture 12">
            <a:extLst>
              <a:ext uri="{FF2B5EF4-FFF2-40B4-BE49-F238E27FC236}">
                <a16:creationId xmlns:a16="http://schemas.microsoft.com/office/drawing/2014/main" id="{5D7DAA03-1FC3-787C-09B8-9A71E9D2E5EE}"/>
              </a:ext>
            </a:extLst>
          </p:cNvPr>
          <p:cNvPicPr>
            <a:picLocks noChangeAspect="1"/>
          </p:cNvPicPr>
          <p:nvPr/>
        </p:nvPicPr>
        <p:blipFill>
          <a:blip r:embed="rId3"/>
          <a:stretch>
            <a:fillRect/>
          </a:stretch>
        </p:blipFill>
        <p:spPr>
          <a:xfrm>
            <a:off x="7304044" y="2420030"/>
            <a:ext cx="3853542" cy="3294969"/>
          </a:xfrm>
          <a:prstGeom prst="rect">
            <a:avLst/>
          </a:prstGeom>
        </p:spPr>
      </p:pic>
      <p:pic>
        <p:nvPicPr>
          <p:cNvPr id="16" name="Picture 15">
            <a:extLst>
              <a:ext uri="{FF2B5EF4-FFF2-40B4-BE49-F238E27FC236}">
                <a16:creationId xmlns:a16="http://schemas.microsoft.com/office/drawing/2014/main" id="{CD743130-743E-5838-19B7-7328010F9FE8}"/>
              </a:ext>
            </a:extLst>
          </p:cNvPr>
          <p:cNvPicPr>
            <a:picLocks noChangeAspect="1"/>
          </p:cNvPicPr>
          <p:nvPr/>
        </p:nvPicPr>
        <p:blipFill>
          <a:blip r:embed="rId3"/>
          <a:stretch>
            <a:fillRect/>
          </a:stretch>
        </p:blipFill>
        <p:spPr>
          <a:xfrm>
            <a:off x="1034414" y="3987799"/>
            <a:ext cx="4941843" cy="1629229"/>
          </a:xfrm>
          <a:prstGeom prst="rect">
            <a:avLst/>
          </a:prstGeom>
        </p:spPr>
      </p:pic>
      <p:pic>
        <p:nvPicPr>
          <p:cNvPr id="20" name="Picture 19">
            <a:extLst>
              <a:ext uri="{FF2B5EF4-FFF2-40B4-BE49-F238E27FC236}">
                <a16:creationId xmlns:a16="http://schemas.microsoft.com/office/drawing/2014/main" id="{68EA7BF9-6CB1-0105-FDB3-BB08CA9E86AD}"/>
              </a:ext>
            </a:extLst>
          </p:cNvPr>
          <p:cNvPicPr>
            <a:picLocks noChangeAspect="1"/>
          </p:cNvPicPr>
          <p:nvPr/>
        </p:nvPicPr>
        <p:blipFill>
          <a:blip r:embed="rId4"/>
          <a:stretch>
            <a:fillRect/>
          </a:stretch>
        </p:blipFill>
        <p:spPr>
          <a:xfrm>
            <a:off x="6881856" y="2050946"/>
            <a:ext cx="4264844" cy="3664053"/>
          </a:xfrm>
          <a:prstGeom prst="rect">
            <a:avLst/>
          </a:prstGeom>
        </p:spPr>
      </p:pic>
      <p:pic>
        <p:nvPicPr>
          <p:cNvPr id="22" name="Picture 21">
            <a:extLst>
              <a:ext uri="{FF2B5EF4-FFF2-40B4-BE49-F238E27FC236}">
                <a16:creationId xmlns:a16="http://schemas.microsoft.com/office/drawing/2014/main" id="{6CFCEA53-F29B-2C5D-8721-D73303163AB6}"/>
              </a:ext>
            </a:extLst>
          </p:cNvPr>
          <p:cNvPicPr>
            <a:picLocks noChangeAspect="1"/>
          </p:cNvPicPr>
          <p:nvPr/>
        </p:nvPicPr>
        <p:blipFill>
          <a:blip r:embed="rId5"/>
          <a:stretch>
            <a:fillRect/>
          </a:stretch>
        </p:blipFill>
        <p:spPr>
          <a:xfrm>
            <a:off x="1045300" y="4067514"/>
            <a:ext cx="5551443" cy="1933845"/>
          </a:xfrm>
          <a:prstGeom prst="rect">
            <a:avLst/>
          </a:prstGeom>
        </p:spPr>
      </p:pic>
    </p:spTree>
    <p:extLst>
      <p:ext uri="{BB962C8B-B14F-4D97-AF65-F5344CB8AC3E}">
        <p14:creationId xmlns:p14="http://schemas.microsoft.com/office/powerpoint/2010/main" val="34388304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C4C01-9B83-5982-C3EC-06E7FF6CB371}"/>
              </a:ext>
            </a:extLst>
          </p:cNvPr>
          <p:cNvSpPr>
            <a:spLocks noGrp="1"/>
          </p:cNvSpPr>
          <p:nvPr>
            <p:ph type="title"/>
          </p:nvPr>
        </p:nvSpPr>
        <p:spPr/>
        <p:txBody>
          <a:bodyPr/>
          <a:lstStyle/>
          <a:p>
            <a:r>
              <a:rPr lang="en-US" b="1" dirty="0" err="1">
                <a:latin typeface="Bell MT" panose="02020503060305020303" pitchFamily="18" charset="0"/>
              </a:rPr>
              <a:t>TabPFN</a:t>
            </a:r>
            <a:endParaRPr lang="en-US" b="1" dirty="0">
              <a:latin typeface="Bell MT" panose="02020503060305020303" pitchFamily="18" charset="0"/>
            </a:endParaRPr>
          </a:p>
        </p:txBody>
      </p:sp>
      <p:pic>
        <p:nvPicPr>
          <p:cNvPr id="5" name="Content Placeholder 4">
            <a:extLst>
              <a:ext uri="{FF2B5EF4-FFF2-40B4-BE49-F238E27FC236}">
                <a16:creationId xmlns:a16="http://schemas.microsoft.com/office/drawing/2014/main" id="{F5D6A989-C63E-C33C-38A2-2652AB60EAAA}"/>
              </a:ext>
            </a:extLst>
          </p:cNvPr>
          <p:cNvPicPr>
            <a:picLocks noGrp="1" noChangeAspect="1"/>
          </p:cNvPicPr>
          <p:nvPr>
            <p:ph idx="1"/>
          </p:nvPr>
        </p:nvPicPr>
        <p:blipFill>
          <a:blip r:embed="rId2"/>
          <a:stretch>
            <a:fillRect/>
          </a:stretch>
        </p:blipFill>
        <p:spPr>
          <a:xfrm>
            <a:off x="954638" y="1825625"/>
            <a:ext cx="10282724" cy="4351338"/>
          </a:xfrm>
        </p:spPr>
      </p:pic>
    </p:spTree>
    <p:extLst>
      <p:ext uri="{BB962C8B-B14F-4D97-AF65-F5344CB8AC3E}">
        <p14:creationId xmlns:p14="http://schemas.microsoft.com/office/powerpoint/2010/main" val="20121019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4EF7E-0499-DB78-513A-826F906F2DC1}"/>
              </a:ext>
            </a:extLst>
          </p:cNvPr>
          <p:cNvSpPr>
            <a:spLocks noGrp="1"/>
          </p:cNvSpPr>
          <p:nvPr>
            <p:ph type="title"/>
          </p:nvPr>
        </p:nvSpPr>
        <p:spPr/>
        <p:txBody>
          <a:bodyPr/>
          <a:lstStyle/>
          <a:p>
            <a:r>
              <a:rPr lang="en-US" b="1" dirty="0">
                <a:latin typeface="Bell MT" panose="02020503060305020303" pitchFamily="18" charset="0"/>
              </a:rPr>
              <a:t>NODE</a:t>
            </a:r>
          </a:p>
        </p:txBody>
      </p:sp>
      <p:pic>
        <p:nvPicPr>
          <p:cNvPr id="5" name="Content Placeholder 4">
            <a:extLst>
              <a:ext uri="{FF2B5EF4-FFF2-40B4-BE49-F238E27FC236}">
                <a16:creationId xmlns:a16="http://schemas.microsoft.com/office/drawing/2014/main" id="{9AC48A1E-D49F-3BD0-A850-2F0CE5A06CF5}"/>
              </a:ext>
            </a:extLst>
          </p:cNvPr>
          <p:cNvPicPr>
            <a:picLocks noGrp="1" noChangeAspect="1"/>
          </p:cNvPicPr>
          <p:nvPr>
            <p:ph idx="1"/>
          </p:nvPr>
        </p:nvPicPr>
        <p:blipFill>
          <a:blip r:embed="rId2"/>
          <a:stretch>
            <a:fillRect/>
          </a:stretch>
        </p:blipFill>
        <p:spPr>
          <a:xfrm>
            <a:off x="1227557" y="1825625"/>
            <a:ext cx="9736885" cy="4351338"/>
          </a:xfrm>
        </p:spPr>
      </p:pic>
    </p:spTree>
    <p:extLst>
      <p:ext uri="{BB962C8B-B14F-4D97-AF65-F5344CB8AC3E}">
        <p14:creationId xmlns:p14="http://schemas.microsoft.com/office/powerpoint/2010/main" val="34021326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80087-BBC9-A8F9-09B4-BAA7DB8AC3A6}"/>
              </a:ext>
            </a:extLst>
          </p:cNvPr>
          <p:cNvSpPr>
            <a:spLocks noGrp="1"/>
          </p:cNvSpPr>
          <p:nvPr>
            <p:ph type="title"/>
          </p:nvPr>
        </p:nvSpPr>
        <p:spPr/>
        <p:txBody>
          <a:bodyPr/>
          <a:lstStyle/>
          <a:p>
            <a:r>
              <a:rPr lang="en-US" b="1" dirty="0">
                <a:latin typeface="Bell MT" panose="02020503060305020303" pitchFamily="18" charset="0"/>
              </a:rPr>
              <a:t>Comparative Analysis</a:t>
            </a:r>
          </a:p>
        </p:txBody>
      </p:sp>
      <p:pic>
        <p:nvPicPr>
          <p:cNvPr id="5" name="Content Placeholder 4">
            <a:extLst>
              <a:ext uri="{FF2B5EF4-FFF2-40B4-BE49-F238E27FC236}">
                <a16:creationId xmlns:a16="http://schemas.microsoft.com/office/drawing/2014/main" id="{AFCFB930-D792-FE42-8958-EAA7D21E6244}"/>
              </a:ext>
            </a:extLst>
          </p:cNvPr>
          <p:cNvPicPr>
            <a:picLocks noGrp="1" noChangeAspect="1"/>
          </p:cNvPicPr>
          <p:nvPr>
            <p:ph idx="1"/>
          </p:nvPr>
        </p:nvPicPr>
        <p:blipFill>
          <a:blip r:embed="rId2"/>
          <a:stretch>
            <a:fillRect/>
          </a:stretch>
        </p:blipFill>
        <p:spPr>
          <a:xfrm>
            <a:off x="838200" y="1995741"/>
            <a:ext cx="10515600" cy="4011105"/>
          </a:xfrm>
        </p:spPr>
      </p:pic>
    </p:spTree>
    <p:extLst>
      <p:ext uri="{BB962C8B-B14F-4D97-AF65-F5344CB8AC3E}">
        <p14:creationId xmlns:p14="http://schemas.microsoft.com/office/powerpoint/2010/main" val="3737218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CB71F-CC72-B4D2-158D-1B07006CA3C0}"/>
              </a:ext>
            </a:extLst>
          </p:cNvPr>
          <p:cNvSpPr>
            <a:spLocks noGrp="1"/>
          </p:cNvSpPr>
          <p:nvPr>
            <p:ph type="title"/>
          </p:nvPr>
        </p:nvSpPr>
        <p:spPr/>
        <p:txBody>
          <a:bodyPr/>
          <a:lstStyle/>
          <a:p>
            <a:r>
              <a:rPr lang="en-US" b="1" dirty="0">
                <a:latin typeface="Bell MT" panose="02020503060305020303" pitchFamily="18" charset="0"/>
              </a:rPr>
              <a:t>Conclusion</a:t>
            </a:r>
          </a:p>
        </p:txBody>
      </p:sp>
      <p:sp>
        <p:nvSpPr>
          <p:cNvPr id="3" name="Content Placeholder 2">
            <a:extLst>
              <a:ext uri="{FF2B5EF4-FFF2-40B4-BE49-F238E27FC236}">
                <a16:creationId xmlns:a16="http://schemas.microsoft.com/office/drawing/2014/main" id="{485B91BC-2838-614B-CBD6-BE25F0B8DF40}"/>
              </a:ext>
            </a:extLst>
          </p:cNvPr>
          <p:cNvSpPr>
            <a:spLocks noGrp="1"/>
          </p:cNvSpPr>
          <p:nvPr>
            <p:ph idx="1"/>
          </p:nvPr>
        </p:nvSpPr>
        <p:spPr/>
        <p:txBody>
          <a:bodyPr>
            <a:normAutofit fontScale="92500"/>
          </a:bodyPr>
          <a:lstStyle/>
          <a:p>
            <a:pPr>
              <a:lnSpc>
                <a:spcPct val="150000"/>
              </a:lnSpc>
            </a:pPr>
            <a:r>
              <a:rPr lang="en-US" dirty="0">
                <a:latin typeface="Bell MT" panose="02020503060305020303" pitchFamily="18" charset="0"/>
              </a:rPr>
              <a:t>From our experiments, transformer-based models (</a:t>
            </a:r>
            <a:r>
              <a:rPr lang="en-US" dirty="0" err="1">
                <a:latin typeface="Bell MT" panose="02020503060305020303" pitchFamily="18" charset="0"/>
              </a:rPr>
              <a:t>TabNet</a:t>
            </a:r>
            <a:r>
              <a:rPr lang="en-US" dirty="0">
                <a:latin typeface="Bell MT" panose="02020503060305020303" pitchFamily="18" charset="0"/>
              </a:rPr>
              <a:t>) significantly outperformed CNNs, GBNNs, and LSTMs for tabular data </a:t>
            </a:r>
            <a:r>
              <a:rPr lang="en-US" dirty="0" err="1">
                <a:latin typeface="Bell MT" panose="02020503060305020303" pitchFamily="18" charset="0"/>
              </a:rPr>
              <a:t>classification.TabNet</a:t>
            </a:r>
            <a:r>
              <a:rPr lang="en-US" dirty="0">
                <a:latin typeface="Bell MT" panose="02020503060305020303" pitchFamily="18" charset="0"/>
              </a:rPr>
              <a:t> achieved the highest accuracy of 74.1 %, proving to be the best choice for this problem. </a:t>
            </a:r>
          </a:p>
          <a:p>
            <a:pPr>
              <a:lnSpc>
                <a:spcPct val="150000"/>
              </a:lnSpc>
            </a:pPr>
            <a:r>
              <a:rPr lang="en-US" dirty="0">
                <a:latin typeface="Bell MT" panose="02020503060305020303" pitchFamily="18" charset="0"/>
              </a:rPr>
              <a:t>Future work includes integrating ensemble methods, fine-tuning hyperparameters, and applying explainable AI techniques to better interpret the model¾s predictions</a:t>
            </a:r>
          </a:p>
        </p:txBody>
      </p:sp>
    </p:spTree>
    <p:extLst>
      <p:ext uri="{BB962C8B-B14F-4D97-AF65-F5344CB8AC3E}">
        <p14:creationId xmlns:p14="http://schemas.microsoft.com/office/powerpoint/2010/main" val="29216593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92616A-6810-F131-658D-096CACF7F7A4}"/>
              </a:ext>
            </a:extLst>
          </p:cNvPr>
          <p:cNvSpPr txBox="1"/>
          <p:nvPr/>
        </p:nvSpPr>
        <p:spPr>
          <a:xfrm>
            <a:off x="1589314" y="1709057"/>
            <a:ext cx="8850086" cy="1569660"/>
          </a:xfrm>
          <a:prstGeom prst="rect">
            <a:avLst/>
          </a:prstGeom>
          <a:noFill/>
        </p:spPr>
        <p:txBody>
          <a:bodyPr wrap="square" rtlCol="0">
            <a:spAutoFit/>
          </a:bodyPr>
          <a:lstStyle/>
          <a:p>
            <a:pPr algn="ctr"/>
            <a:r>
              <a:rPr lang="en-US" sz="9600" dirty="0">
                <a:latin typeface="Bell MT" panose="02020503060305020303" pitchFamily="18" charset="0"/>
              </a:rPr>
              <a:t>Thank You!</a:t>
            </a:r>
          </a:p>
        </p:txBody>
      </p:sp>
    </p:spTree>
    <p:extLst>
      <p:ext uri="{BB962C8B-B14F-4D97-AF65-F5344CB8AC3E}">
        <p14:creationId xmlns:p14="http://schemas.microsoft.com/office/powerpoint/2010/main" val="41991193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408</TotalTime>
  <Words>1800</Words>
  <Application>Microsoft Office PowerPoint</Application>
  <PresentationFormat>Widescreen</PresentationFormat>
  <Paragraphs>121</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Bell MT</vt:lpstr>
      <vt:lpstr>Calibri</vt:lpstr>
      <vt:lpstr>Calibri Light</vt:lpstr>
      <vt:lpstr>Times New Roman</vt:lpstr>
      <vt:lpstr>Office Theme</vt:lpstr>
      <vt:lpstr>PREDICTING LEVELS OF DAMAGES TO BUILDINGS CAUSED BY EARTHQUAKE</vt:lpstr>
      <vt:lpstr>Abstract</vt:lpstr>
      <vt:lpstr>Objectives</vt:lpstr>
      <vt:lpstr>Problem Statement</vt:lpstr>
      <vt:lpstr>Significance of the Study</vt:lpstr>
      <vt:lpstr>PowerPoint Presentation</vt:lpstr>
      <vt:lpstr>Literature Review - Overview</vt:lpstr>
      <vt:lpstr>PowerPoint Presentation</vt:lpstr>
      <vt:lpstr>Literature Review – Machine Learning Approaches</vt:lpstr>
      <vt:lpstr>PowerPoint Presentation</vt:lpstr>
      <vt:lpstr>Methodology – Overview</vt:lpstr>
      <vt:lpstr>Data Collection</vt:lpstr>
      <vt:lpstr>Dataset Description</vt:lpstr>
      <vt:lpstr>PowerPoint Presentation</vt:lpstr>
      <vt:lpstr>PowerPoint Presentation</vt:lpstr>
      <vt:lpstr>Data Preprocessing</vt:lpstr>
      <vt:lpstr>Model Training</vt:lpstr>
      <vt:lpstr>CONVOLUTIONAL NEURAL NETWORK</vt:lpstr>
      <vt:lpstr>Bidirectional Long Short-Term Memory</vt:lpstr>
      <vt:lpstr>Gradient/Graph-Based Neural Network</vt:lpstr>
      <vt:lpstr>TabNet</vt:lpstr>
      <vt:lpstr>Tabular Prior-Data Fitted Network</vt:lpstr>
      <vt:lpstr>Neural Oblivious Decision Ensembles</vt:lpstr>
      <vt:lpstr>Experimental Results and Analysis</vt:lpstr>
      <vt:lpstr>CNN</vt:lpstr>
      <vt:lpstr>BLSTM</vt:lpstr>
      <vt:lpstr>GBNN</vt:lpstr>
      <vt:lpstr>TabNet</vt:lpstr>
      <vt:lpstr>TabPFN</vt:lpstr>
      <vt:lpstr>NODE</vt:lpstr>
      <vt:lpstr>Comparative Analysis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Gowtham R</dc:creator>
  <cp:lastModifiedBy>Gowtham R</cp:lastModifiedBy>
  <cp:revision>1</cp:revision>
  <dcterms:created xsi:type="dcterms:W3CDTF">2025-05-07T11:36:22Z</dcterms:created>
  <dcterms:modified xsi:type="dcterms:W3CDTF">2025-05-08T09:24:08Z</dcterms:modified>
</cp:coreProperties>
</file>